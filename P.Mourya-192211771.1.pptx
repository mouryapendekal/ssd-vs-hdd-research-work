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16459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DCBF"/>
    <a:srgbClr val="5F5F5F"/>
    <a:srgbClr val="FFCFE7"/>
    <a:srgbClr val="BFE7FF"/>
    <a:srgbClr val="D6F5CC"/>
    <a:srgbClr val="D7F5CD"/>
    <a:srgbClr val="FCDCBF"/>
    <a:srgbClr val="FED67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C4F360-C50A-4AEB-A250-939CB39B5EF1}" v="115" dt="2025-06-05T12:23:29.748"/>
    <p1510:client id="{F5BBA415-0712-4400-9F4C-D79751A79B90}" v="16" dt="2025-06-06T08:56:12.8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773" autoAdjust="0"/>
  </p:normalViewPr>
  <p:slideViewPr>
    <p:cSldViewPr snapToGrid="0">
      <p:cViewPr>
        <p:scale>
          <a:sx n="50" d="100"/>
          <a:sy n="50" d="100"/>
        </p:scale>
        <p:origin x="1219" y="1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4441" y="5387365"/>
            <a:ext cx="13990320" cy="11460480"/>
          </a:xfrm>
        </p:spPr>
        <p:txBody>
          <a:bodyPr anchor="b"/>
          <a:lstStyle>
            <a:lvl1pPr algn="ctr">
              <a:defRPr sz="10810"/>
            </a:lvl1pPr>
          </a:lstStyle>
          <a:p>
            <a:r>
              <a:rPr lang="en-US"/>
              <a:t>Click to edit Master title style</a:t>
            </a:r>
            <a:endParaRPr lang="en-US" dirty="0"/>
          </a:p>
        </p:txBody>
      </p:sp>
      <p:sp>
        <p:nvSpPr>
          <p:cNvPr id="3" name="Subtitle 2"/>
          <p:cNvSpPr>
            <a:spLocks noGrp="1"/>
          </p:cNvSpPr>
          <p:nvPr>
            <p:ph type="subTitle" idx="1"/>
          </p:nvPr>
        </p:nvSpPr>
        <p:spPr>
          <a:xfrm>
            <a:off x="2057400" y="17289780"/>
            <a:ext cx="12344400" cy="7947659"/>
          </a:xfrm>
        </p:spPr>
        <p:txBody>
          <a:bodyPr/>
          <a:lstStyle>
            <a:lvl1pPr marL="0" indent="0" algn="ctr">
              <a:buNone/>
              <a:defRPr sz="4323"/>
            </a:lvl1pPr>
            <a:lvl2pPr marL="823285" indent="0" algn="ctr">
              <a:buNone/>
              <a:defRPr sz="3602"/>
            </a:lvl2pPr>
            <a:lvl3pPr marL="1646571" indent="0" algn="ctr">
              <a:buNone/>
              <a:defRPr sz="3241"/>
            </a:lvl3pPr>
            <a:lvl4pPr marL="2469856" indent="0" algn="ctr">
              <a:buNone/>
              <a:defRPr sz="2880"/>
            </a:lvl4pPr>
            <a:lvl5pPr marL="3293142" indent="0" algn="ctr">
              <a:buNone/>
              <a:defRPr sz="2880"/>
            </a:lvl5pPr>
            <a:lvl6pPr marL="4116427" indent="0" algn="ctr">
              <a:buNone/>
              <a:defRPr sz="2880"/>
            </a:lvl6pPr>
            <a:lvl7pPr marL="4939713" indent="0" algn="ctr">
              <a:buNone/>
              <a:defRPr sz="2880"/>
            </a:lvl7pPr>
            <a:lvl8pPr marL="5762993" indent="0" algn="ctr">
              <a:buNone/>
              <a:defRPr sz="2880"/>
            </a:lvl8pPr>
            <a:lvl9pPr marL="6586284" indent="0" algn="ctr">
              <a:buNone/>
              <a:defRPr sz="28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668891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121152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2998" y="8206752"/>
            <a:ext cx="14196060" cy="13693136"/>
          </a:xfrm>
        </p:spPr>
        <p:txBody>
          <a:bodyPr anchor="b"/>
          <a:lstStyle>
            <a:lvl1pPr>
              <a:defRPr sz="10810"/>
            </a:lvl1pPr>
          </a:lstStyle>
          <a:p>
            <a:r>
              <a:rPr lang="en-US"/>
              <a:t>Click to edit Master title style</a:t>
            </a:r>
            <a:endParaRPr lang="en-US" dirty="0"/>
          </a:p>
        </p:txBody>
      </p:sp>
      <p:sp>
        <p:nvSpPr>
          <p:cNvPr id="3" name="Text Placeholder 2"/>
          <p:cNvSpPr>
            <a:spLocks noGrp="1"/>
          </p:cNvSpPr>
          <p:nvPr>
            <p:ph type="body" idx="1"/>
          </p:nvPr>
        </p:nvSpPr>
        <p:spPr>
          <a:xfrm>
            <a:off x="1122998" y="22029429"/>
            <a:ext cx="14196060" cy="7200899"/>
          </a:xfrm>
        </p:spPr>
        <p:txBody>
          <a:bodyPr/>
          <a:lstStyle>
            <a:lvl1pPr marL="0" indent="0">
              <a:buNone/>
              <a:defRPr sz="4323">
                <a:solidFill>
                  <a:schemeClr val="tx1"/>
                </a:solidFill>
              </a:defRPr>
            </a:lvl1pPr>
            <a:lvl2pPr marL="823285" indent="0">
              <a:buNone/>
              <a:defRPr sz="3602">
                <a:solidFill>
                  <a:schemeClr val="tx1">
                    <a:tint val="75000"/>
                  </a:schemeClr>
                </a:solidFill>
              </a:defRPr>
            </a:lvl2pPr>
            <a:lvl3pPr marL="1646571" indent="0">
              <a:buNone/>
              <a:defRPr sz="3241">
                <a:solidFill>
                  <a:schemeClr val="tx1">
                    <a:tint val="75000"/>
                  </a:schemeClr>
                </a:solidFill>
              </a:defRPr>
            </a:lvl3pPr>
            <a:lvl4pPr marL="2469856" indent="0">
              <a:buNone/>
              <a:defRPr sz="2880">
                <a:solidFill>
                  <a:schemeClr val="tx1">
                    <a:tint val="75000"/>
                  </a:schemeClr>
                </a:solidFill>
              </a:defRPr>
            </a:lvl4pPr>
            <a:lvl5pPr marL="3293142" indent="0">
              <a:buNone/>
              <a:defRPr sz="2880">
                <a:solidFill>
                  <a:schemeClr val="tx1">
                    <a:tint val="75000"/>
                  </a:schemeClr>
                </a:solidFill>
              </a:defRPr>
            </a:lvl5pPr>
            <a:lvl6pPr marL="4116427" indent="0">
              <a:buNone/>
              <a:defRPr sz="2880">
                <a:solidFill>
                  <a:schemeClr val="tx1">
                    <a:tint val="75000"/>
                  </a:schemeClr>
                </a:solidFill>
              </a:defRPr>
            </a:lvl6pPr>
            <a:lvl7pPr marL="4939713" indent="0">
              <a:buNone/>
              <a:defRPr sz="2880">
                <a:solidFill>
                  <a:schemeClr val="tx1">
                    <a:tint val="75000"/>
                  </a:schemeClr>
                </a:solidFill>
              </a:defRPr>
            </a:lvl7pPr>
            <a:lvl8pPr marL="5762993" indent="0">
              <a:buNone/>
              <a:defRPr sz="2880">
                <a:solidFill>
                  <a:schemeClr val="tx1">
                    <a:tint val="75000"/>
                  </a:schemeClr>
                </a:solidFill>
              </a:defRPr>
            </a:lvl8pPr>
            <a:lvl9pPr marL="6586284" indent="0">
              <a:buNone/>
              <a:defRPr sz="28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374664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315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3324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06-06-2025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66996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3714" y="1752608"/>
            <a:ext cx="14196060" cy="63627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33716" y="8069588"/>
            <a:ext cx="6963012" cy="3954780"/>
          </a:xfrm>
        </p:spPr>
        <p:txBody>
          <a:bodyPr anchor="b"/>
          <a:lstStyle>
            <a:lvl1pPr marL="0" indent="0">
              <a:buNone/>
              <a:defRPr sz="4323" b="1"/>
            </a:lvl1pPr>
            <a:lvl2pPr marL="823285" indent="0">
              <a:buNone/>
              <a:defRPr sz="3602" b="1"/>
            </a:lvl2pPr>
            <a:lvl3pPr marL="1646571" indent="0">
              <a:buNone/>
              <a:defRPr sz="3241" b="1"/>
            </a:lvl3pPr>
            <a:lvl4pPr marL="2469856" indent="0">
              <a:buNone/>
              <a:defRPr sz="2880" b="1"/>
            </a:lvl4pPr>
            <a:lvl5pPr marL="3293142" indent="0">
              <a:buNone/>
              <a:defRPr sz="2880" b="1"/>
            </a:lvl5pPr>
            <a:lvl6pPr marL="4116427" indent="0">
              <a:buNone/>
              <a:defRPr sz="2880" b="1"/>
            </a:lvl6pPr>
            <a:lvl7pPr marL="4939713" indent="0">
              <a:buNone/>
              <a:defRPr sz="2880" b="1"/>
            </a:lvl7pPr>
            <a:lvl8pPr marL="5762993" indent="0">
              <a:buNone/>
              <a:defRPr sz="2880" b="1"/>
            </a:lvl8pPr>
            <a:lvl9pPr marL="6586284" indent="0">
              <a:buNone/>
              <a:defRPr sz="2880" b="1"/>
            </a:lvl9pPr>
          </a:lstStyle>
          <a:p>
            <a:pPr lvl="0"/>
            <a:r>
              <a:rPr lang="en-US"/>
              <a:t>Click to edit Master text styles</a:t>
            </a:r>
          </a:p>
        </p:txBody>
      </p:sp>
      <p:sp>
        <p:nvSpPr>
          <p:cNvPr id="4" name="Content Placeholder 3"/>
          <p:cNvSpPr>
            <a:spLocks noGrp="1"/>
          </p:cNvSpPr>
          <p:nvPr>
            <p:ph sz="half" idx="2"/>
          </p:nvPr>
        </p:nvSpPr>
        <p:spPr>
          <a:xfrm>
            <a:off x="1133716" y="12024360"/>
            <a:ext cx="6963012"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332471" y="8069588"/>
            <a:ext cx="6997304" cy="3954780"/>
          </a:xfrm>
        </p:spPr>
        <p:txBody>
          <a:bodyPr anchor="b"/>
          <a:lstStyle>
            <a:lvl1pPr marL="0" indent="0">
              <a:buNone/>
              <a:defRPr sz="4323" b="1"/>
            </a:lvl1pPr>
            <a:lvl2pPr marL="823285" indent="0">
              <a:buNone/>
              <a:defRPr sz="3602" b="1"/>
            </a:lvl2pPr>
            <a:lvl3pPr marL="1646571" indent="0">
              <a:buNone/>
              <a:defRPr sz="3241" b="1"/>
            </a:lvl3pPr>
            <a:lvl4pPr marL="2469856" indent="0">
              <a:buNone/>
              <a:defRPr sz="2880" b="1"/>
            </a:lvl4pPr>
            <a:lvl5pPr marL="3293142" indent="0">
              <a:buNone/>
              <a:defRPr sz="2880" b="1"/>
            </a:lvl5pPr>
            <a:lvl6pPr marL="4116427" indent="0">
              <a:buNone/>
              <a:defRPr sz="2880" b="1"/>
            </a:lvl6pPr>
            <a:lvl7pPr marL="4939713" indent="0">
              <a:buNone/>
              <a:defRPr sz="2880" b="1"/>
            </a:lvl7pPr>
            <a:lvl8pPr marL="5762993" indent="0">
              <a:buNone/>
              <a:defRPr sz="2880" b="1"/>
            </a:lvl8pPr>
            <a:lvl9pPr marL="6586284" indent="0">
              <a:buNone/>
              <a:defRPr sz="2880" b="1"/>
            </a:lvl9pPr>
          </a:lstStyle>
          <a:p>
            <a:pPr lvl="0"/>
            <a:r>
              <a:rPr lang="en-US"/>
              <a:t>Click to edit Master text styles</a:t>
            </a:r>
          </a:p>
        </p:txBody>
      </p:sp>
      <p:sp>
        <p:nvSpPr>
          <p:cNvPr id="6" name="Content Placeholder 5"/>
          <p:cNvSpPr>
            <a:spLocks noGrp="1"/>
          </p:cNvSpPr>
          <p:nvPr>
            <p:ph sz="quarter" idx="4"/>
          </p:nvPr>
        </p:nvSpPr>
        <p:spPr>
          <a:xfrm>
            <a:off x="8332471" y="12024360"/>
            <a:ext cx="6997304"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06-06-2025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22208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06-06-2025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917478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06-06-2025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748770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1"/>
            </a:lvl1pPr>
          </a:lstStyle>
          <a:p>
            <a:r>
              <a:rPr lang="en-US"/>
              <a:t>Click to edit Master title style</a:t>
            </a:r>
            <a:endParaRPr lang="en-US" dirty="0"/>
          </a:p>
        </p:txBody>
      </p:sp>
      <p:sp>
        <p:nvSpPr>
          <p:cNvPr id="3" name="Content Placeholder 2"/>
          <p:cNvSpPr>
            <a:spLocks noGrp="1"/>
          </p:cNvSpPr>
          <p:nvPr>
            <p:ph idx="1"/>
          </p:nvPr>
        </p:nvSpPr>
        <p:spPr>
          <a:xfrm>
            <a:off x="6997304" y="4739649"/>
            <a:ext cx="8332470" cy="23393398"/>
          </a:xfrm>
        </p:spPr>
        <p:txBody>
          <a:bodyPr/>
          <a:lstStyle>
            <a:lvl1pPr>
              <a:defRPr sz="5761"/>
            </a:lvl1pPr>
            <a:lvl2pPr>
              <a:defRPr sz="5039"/>
            </a:lvl2pPr>
            <a:lvl3pPr>
              <a:defRPr sz="4323"/>
            </a:lvl3pPr>
            <a:lvl4pPr>
              <a:defRPr sz="3602"/>
            </a:lvl4pPr>
            <a:lvl5pPr>
              <a:defRPr sz="3602"/>
            </a:lvl5pPr>
            <a:lvl6pPr>
              <a:defRPr sz="3602"/>
            </a:lvl6pPr>
            <a:lvl7pPr>
              <a:defRPr sz="3602"/>
            </a:lvl7pPr>
            <a:lvl8pPr>
              <a:defRPr sz="3602"/>
            </a:lvl8pPr>
            <a:lvl9pPr>
              <a:defRPr sz="360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285" indent="0">
              <a:buNone/>
              <a:defRPr sz="2520"/>
            </a:lvl2pPr>
            <a:lvl3pPr marL="1646571" indent="0">
              <a:buNone/>
              <a:defRPr sz="2159"/>
            </a:lvl3pPr>
            <a:lvl4pPr marL="2469856" indent="0">
              <a:buNone/>
              <a:defRPr sz="1798"/>
            </a:lvl4pPr>
            <a:lvl5pPr marL="3293142" indent="0">
              <a:buNone/>
              <a:defRPr sz="1798"/>
            </a:lvl5pPr>
            <a:lvl6pPr marL="4116427" indent="0">
              <a:buNone/>
              <a:defRPr sz="1798"/>
            </a:lvl6pPr>
            <a:lvl7pPr marL="4939713" indent="0">
              <a:buNone/>
              <a:defRPr sz="1798"/>
            </a:lvl7pPr>
            <a:lvl8pPr marL="5762993" indent="0">
              <a:buNone/>
              <a:defRPr sz="1798"/>
            </a:lvl8pPr>
            <a:lvl9pPr marL="6586284" indent="0">
              <a:buNone/>
              <a:defRPr sz="1798"/>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06-06-2025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199882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1"/>
            </a:lvl1pPr>
          </a:lstStyle>
          <a:p>
            <a:r>
              <a:rPr lang="en-US"/>
              <a:t>Click to edit Master title style</a:t>
            </a:r>
            <a:endParaRPr lang="en-US" dirty="0"/>
          </a:p>
        </p:txBody>
      </p:sp>
      <p:sp>
        <p:nvSpPr>
          <p:cNvPr id="3" name="Picture Placeholder 2"/>
          <p:cNvSpPr>
            <a:spLocks noGrp="1" noChangeAspect="1"/>
          </p:cNvSpPr>
          <p:nvPr>
            <p:ph type="pic" idx="1"/>
          </p:nvPr>
        </p:nvSpPr>
        <p:spPr>
          <a:xfrm>
            <a:off x="6997304" y="4739649"/>
            <a:ext cx="8332470" cy="23393398"/>
          </a:xfrm>
        </p:spPr>
        <p:txBody>
          <a:bodyPr anchor="t"/>
          <a:lstStyle>
            <a:lvl1pPr marL="0" indent="0">
              <a:buNone/>
              <a:defRPr sz="5761"/>
            </a:lvl1pPr>
            <a:lvl2pPr marL="823285" indent="0">
              <a:buNone/>
              <a:defRPr sz="5039"/>
            </a:lvl2pPr>
            <a:lvl3pPr marL="1646571" indent="0">
              <a:buNone/>
              <a:defRPr sz="4323"/>
            </a:lvl3pPr>
            <a:lvl4pPr marL="2469856" indent="0">
              <a:buNone/>
              <a:defRPr sz="3602"/>
            </a:lvl4pPr>
            <a:lvl5pPr marL="3293142" indent="0">
              <a:buNone/>
              <a:defRPr sz="3602"/>
            </a:lvl5pPr>
            <a:lvl6pPr marL="4116427" indent="0">
              <a:buNone/>
              <a:defRPr sz="3602"/>
            </a:lvl6pPr>
            <a:lvl7pPr marL="4939713" indent="0">
              <a:buNone/>
              <a:defRPr sz="3602"/>
            </a:lvl7pPr>
            <a:lvl8pPr marL="5762993" indent="0">
              <a:buNone/>
              <a:defRPr sz="3602"/>
            </a:lvl8pPr>
            <a:lvl9pPr marL="6586284" indent="0">
              <a:buNone/>
              <a:defRPr sz="3602"/>
            </a:lvl9pPr>
          </a:lstStyle>
          <a:p>
            <a:r>
              <a:rPr lang="en-US"/>
              <a:t>Click icon to add picture</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285" indent="0">
              <a:buNone/>
              <a:defRPr sz="2520"/>
            </a:lvl2pPr>
            <a:lvl3pPr marL="1646571" indent="0">
              <a:buNone/>
              <a:defRPr sz="2159"/>
            </a:lvl3pPr>
            <a:lvl4pPr marL="2469856" indent="0">
              <a:buNone/>
              <a:defRPr sz="1798"/>
            </a:lvl4pPr>
            <a:lvl5pPr marL="3293142" indent="0">
              <a:buNone/>
              <a:defRPr sz="1798"/>
            </a:lvl5pPr>
            <a:lvl6pPr marL="4116427" indent="0">
              <a:buNone/>
              <a:defRPr sz="1798"/>
            </a:lvl6pPr>
            <a:lvl7pPr marL="4939713" indent="0">
              <a:buNone/>
              <a:defRPr sz="1798"/>
            </a:lvl7pPr>
            <a:lvl8pPr marL="5762993" indent="0">
              <a:buNone/>
              <a:defRPr sz="1798"/>
            </a:lvl8pPr>
            <a:lvl9pPr marL="6586284" indent="0">
              <a:buNone/>
              <a:defRPr sz="1798"/>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06-06-2025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2985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764979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78616" y="1752621"/>
            <a:ext cx="3549015" cy="278968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31576" y="1752621"/>
            <a:ext cx="10441305" cy="278968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380149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1752608"/>
            <a:ext cx="14196060" cy="63627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8763025"/>
            <a:ext cx="14196060" cy="208864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30510502"/>
            <a:ext cx="3703320" cy="1752598"/>
          </a:xfrm>
          <a:prstGeom prst="rect">
            <a:avLst/>
          </a:prstGeom>
        </p:spPr>
        <p:txBody>
          <a:bodyPr vert="horz" lIns="91440" tIns="45720" rIns="91440" bIns="45720" rtlCol="0" anchor="ctr"/>
          <a:lstStyle>
            <a:lvl1pPr algn="l">
              <a:defRPr sz="2159">
                <a:solidFill>
                  <a:schemeClr val="tx1">
                    <a:tint val="75000"/>
                  </a:schemeClr>
                </a:solidFill>
              </a:defRPr>
            </a:lvl1pPr>
          </a:lstStyle>
          <a:p>
            <a:fld id="{3E22DA87-17A3-43A0-B86E-2FCFB6EFBC32}" type="datetimeFigureOut">
              <a:rPr lang="en-IN" smtClean="0"/>
              <a:t>06-06-2025</a:t>
            </a:fld>
            <a:endParaRPr lang="en-IN"/>
          </a:p>
        </p:txBody>
      </p:sp>
      <p:sp>
        <p:nvSpPr>
          <p:cNvPr id="5" name="Footer Placeholder 4"/>
          <p:cNvSpPr>
            <a:spLocks noGrp="1"/>
          </p:cNvSpPr>
          <p:nvPr>
            <p:ph type="ftr" sz="quarter" idx="3"/>
          </p:nvPr>
        </p:nvSpPr>
        <p:spPr>
          <a:xfrm>
            <a:off x="5452110" y="30510502"/>
            <a:ext cx="5554980" cy="1752598"/>
          </a:xfrm>
          <a:prstGeom prst="rect">
            <a:avLst/>
          </a:prstGeom>
        </p:spPr>
        <p:txBody>
          <a:bodyPr vert="horz" lIns="91440" tIns="45720" rIns="91440" bIns="45720" rtlCol="0" anchor="ctr"/>
          <a:lstStyle>
            <a:lvl1pPr algn="ctr">
              <a:defRPr sz="215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1624310" y="30510502"/>
            <a:ext cx="3703320" cy="1752598"/>
          </a:xfrm>
          <a:prstGeom prst="rect">
            <a:avLst/>
          </a:prstGeom>
        </p:spPr>
        <p:txBody>
          <a:bodyPr vert="horz" lIns="91440" tIns="45720" rIns="91440" bIns="45720" rtlCol="0" anchor="ctr"/>
          <a:lstStyle>
            <a:lvl1pPr algn="r">
              <a:defRPr sz="2159">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35967978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646571" rtl="0" eaLnBrk="1" latinLnBrk="0" hangingPunct="1">
        <a:lnSpc>
          <a:spcPct val="90000"/>
        </a:lnSpc>
        <a:spcBef>
          <a:spcPct val="0"/>
        </a:spcBef>
        <a:buNone/>
        <a:defRPr sz="7920" kern="1200">
          <a:solidFill>
            <a:schemeClr val="tx1"/>
          </a:solidFill>
          <a:latin typeface="+mj-lt"/>
          <a:ea typeface="+mj-ea"/>
          <a:cs typeface="+mj-cs"/>
        </a:defRPr>
      </a:lvl1pPr>
    </p:titleStyle>
    <p:bodyStyle>
      <a:lvl1pPr marL="411645" indent="-411645" algn="l" defTabSz="1646571" rtl="0" eaLnBrk="1" latinLnBrk="0" hangingPunct="1">
        <a:lnSpc>
          <a:spcPct val="90000"/>
        </a:lnSpc>
        <a:spcBef>
          <a:spcPts val="1798"/>
        </a:spcBef>
        <a:buFont typeface="Arial" panose="020B0604020202020204" pitchFamily="34" charset="0"/>
        <a:buChar char="•"/>
        <a:defRPr sz="5039" kern="1200">
          <a:solidFill>
            <a:schemeClr val="tx1"/>
          </a:solidFill>
          <a:latin typeface="+mn-lt"/>
          <a:ea typeface="+mn-ea"/>
          <a:cs typeface="+mn-cs"/>
        </a:defRPr>
      </a:lvl1pPr>
      <a:lvl2pPr marL="1234930" indent="-411645" algn="l" defTabSz="1646571" rtl="0" eaLnBrk="1" latinLnBrk="0" hangingPunct="1">
        <a:lnSpc>
          <a:spcPct val="90000"/>
        </a:lnSpc>
        <a:spcBef>
          <a:spcPts val="899"/>
        </a:spcBef>
        <a:buFont typeface="Arial" panose="020B0604020202020204" pitchFamily="34" charset="0"/>
        <a:buChar char="•"/>
        <a:defRPr sz="4323" kern="1200">
          <a:solidFill>
            <a:schemeClr val="tx1"/>
          </a:solidFill>
          <a:latin typeface="+mn-lt"/>
          <a:ea typeface="+mn-ea"/>
          <a:cs typeface="+mn-cs"/>
        </a:defRPr>
      </a:lvl2pPr>
      <a:lvl3pPr marL="2058212" indent="-411645" algn="l" defTabSz="1646571" rtl="0" eaLnBrk="1" latinLnBrk="0" hangingPunct="1">
        <a:lnSpc>
          <a:spcPct val="90000"/>
        </a:lnSpc>
        <a:spcBef>
          <a:spcPts val="899"/>
        </a:spcBef>
        <a:buFont typeface="Arial" panose="020B0604020202020204" pitchFamily="34" charset="0"/>
        <a:buChar char="•"/>
        <a:defRPr sz="3602" kern="1200">
          <a:solidFill>
            <a:schemeClr val="tx1"/>
          </a:solidFill>
          <a:latin typeface="+mn-lt"/>
          <a:ea typeface="+mn-ea"/>
          <a:cs typeface="+mn-cs"/>
        </a:defRPr>
      </a:lvl3pPr>
      <a:lvl4pPr marL="2881502"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4pPr>
      <a:lvl5pPr marL="3704783"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5pPr>
      <a:lvl6pPr marL="4528073"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6pPr>
      <a:lvl7pPr marL="5351359"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7pPr>
      <a:lvl8pPr marL="6174639"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8pPr>
      <a:lvl9pPr marL="6997930"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9pPr>
    </p:bodyStyle>
    <p:otherStyle>
      <a:defPPr>
        <a:defRPr lang="en-US"/>
      </a:defPPr>
      <a:lvl1pPr marL="0" algn="l" defTabSz="1646571" rtl="0" eaLnBrk="1" latinLnBrk="0" hangingPunct="1">
        <a:defRPr sz="3241" kern="1200">
          <a:solidFill>
            <a:schemeClr val="tx1"/>
          </a:solidFill>
          <a:latin typeface="+mn-lt"/>
          <a:ea typeface="+mn-ea"/>
          <a:cs typeface="+mn-cs"/>
        </a:defRPr>
      </a:lvl1pPr>
      <a:lvl2pPr marL="823285" algn="l" defTabSz="1646571" rtl="0" eaLnBrk="1" latinLnBrk="0" hangingPunct="1">
        <a:defRPr sz="3241" kern="1200">
          <a:solidFill>
            <a:schemeClr val="tx1"/>
          </a:solidFill>
          <a:latin typeface="+mn-lt"/>
          <a:ea typeface="+mn-ea"/>
          <a:cs typeface="+mn-cs"/>
        </a:defRPr>
      </a:lvl2pPr>
      <a:lvl3pPr marL="1646571" algn="l" defTabSz="1646571" rtl="0" eaLnBrk="1" latinLnBrk="0" hangingPunct="1">
        <a:defRPr sz="3241" kern="1200">
          <a:solidFill>
            <a:schemeClr val="tx1"/>
          </a:solidFill>
          <a:latin typeface="+mn-lt"/>
          <a:ea typeface="+mn-ea"/>
          <a:cs typeface="+mn-cs"/>
        </a:defRPr>
      </a:lvl3pPr>
      <a:lvl4pPr marL="2469856" algn="l" defTabSz="1646571" rtl="0" eaLnBrk="1" latinLnBrk="0" hangingPunct="1">
        <a:defRPr sz="3241" kern="1200">
          <a:solidFill>
            <a:schemeClr val="tx1"/>
          </a:solidFill>
          <a:latin typeface="+mn-lt"/>
          <a:ea typeface="+mn-ea"/>
          <a:cs typeface="+mn-cs"/>
        </a:defRPr>
      </a:lvl4pPr>
      <a:lvl5pPr marL="3293142" algn="l" defTabSz="1646571" rtl="0" eaLnBrk="1" latinLnBrk="0" hangingPunct="1">
        <a:defRPr sz="3241" kern="1200">
          <a:solidFill>
            <a:schemeClr val="tx1"/>
          </a:solidFill>
          <a:latin typeface="+mn-lt"/>
          <a:ea typeface="+mn-ea"/>
          <a:cs typeface="+mn-cs"/>
        </a:defRPr>
      </a:lvl5pPr>
      <a:lvl6pPr marL="4116427" algn="l" defTabSz="1646571" rtl="0" eaLnBrk="1" latinLnBrk="0" hangingPunct="1">
        <a:defRPr sz="3241" kern="1200">
          <a:solidFill>
            <a:schemeClr val="tx1"/>
          </a:solidFill>
          <a:latin typeface="+mn-lt"/>
          <a:ea typeface="+mn-ea"/>
          <a:cs typeface="+mn-cs"/>
        </a:defRPr>
      </a:lvl6pPr>
      <a:lvl7pPr marL="4939713" algn="l" defTabSz="1646571" rtl="0" eaLnBrk="1" latinLnBrk="0" hangingPunct="1">
        <a:defRPr sz="3241" kern="1200">
          <a:solidFill>
            <a:schemeClr val="tx1"/>
          </a:solidFill>
          <a:latin typeface="+mn-lt"/>
          <a:ea typeface="+mn-ea"/>
          <a:cs typeface="+mn-cs"/>
        </a:defRPr>
      </a:lvl7pPr>
      <a:lvl8pPr marL="5762993" algn="l" defTabSz="1646571" rtl="0" eaLnBrk="1" latinLnBrk="0" hangingPunct="1">
        <a:defRPr sz="3241" kern="1200">
          <a:solidFill>
            <a:schemeClr val="tx1"/>
          </a:solidFill>
          <a:latin typeface="+mn-lt"/>
          <a:ea typeface="+mn-ea"/>
          <a:cs typeface="+mn-cs"/>
        </a:defRPr>
      </a:lvl8pPr>
      <a:lvl9pPr marL="6586284" algn="l" defTabSz="1646571" rtl="0" eaLnBrk="1" latinLnBrk="0" hangingPunct="1">
        <a:defRPr sz="32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F757CC-C832-3EB9-8642-C2DADE82A7D6}"/>
              </a:ext>
            </a:extLst>
          </p:cNvPr>
          <p:cNvSpPr/>
          <p:nvPr/>
        </p:nvSpPr>
        <p:spPr>
          <a:xfrm>
            <a:off x="-1" y="1"/>
            <a:ext cx="16459202" cy="269206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8"/>
          </a:p>
        </p:txBody>
      </p:sp>
      <p:pic>
        <p:nvPicPr>
          <p:cNvPr id="2" name="Picture 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443" y="213958"/>
            <a:ext cx="15952717" cy="2290531"/>
          </a:xfrm>
          <a:prstGeom prst="rect">
            <a:avLst/>
          </a:prstGeom>
        </p:spPr>
      </p:pic>
      <p:sp>
        <p:nvSpPr>
          <p:cNvPr id="32" name="Rectangle 31">
            <a:extLst>
              <a:ext uri="{FF2B5EF4-FFF2-40B4-BE49-F238E27FC236}">
                <a16:creationId xmlns:a16="http://schemas.microsoft.com/office/drawing/2014/main" id="{55F827C5-EB36-36D8-57E4-E142A1A8C67D}"/>
              </a:ext>
            </a:extLst>
          </p:cNvPr>
          <p:cNvSpPr/>
          <p:nvPr/>
        </p:nvSpPr>
        <p:spPr>
          <a:xfrm>
            <a:off x="14203" y="12172000"/>
            <a:ext cx="8257345" cy="2919040"/>
          </a:xfrm>
          <a:prstGeom prst="rect">
            <a:avLst/>
          </a:prstGeom>
          <a:solidFill>
            <a:srgbClr val="FB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31" name="Rectangle 30">
            <a:extLst>
              <a:ext uri="{FF2B5EF4-FFF2-40B4-BE49-F238E27FC236}">
                <a16:creationId xmlns:a16="http://schemas.microsoft.com/office/drawing/2014/main" id="{55F827C5-EB36-36D8-57E4-E142A1A8C67D}"/>
              </a:ext>
            </a:extLst>
          </p:cNvPr>
          <p:cNvSpPr/>
          <p:nvPr/>
        </p:nvSpPr>
        <p:spPr>
          <a:xfrm>
            <a:off x="17782" y="9296089"/>
            <a:ext cx="8257345" cy="3014563"/>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4" name="Rectangle 3">
            <a:extLst>
              <a:ext uri="{FF2B5EF4-FFF2-40B4-BE49-F238E27FC236}">
                <a16:creationId xmlns:a16="http://schemas.microsoft.com/office/drawing/2014/main" id="{55F827C5-EB36-36D8-57E4-E142A1A8C67D}"/>
              </a:ext>
            </a:extLst>
          </p:cNvPr>
          <p:cNvSpPr/>
          <p:nvPr/>
        </p:nvSpPr>
        <p:spPr>
          <a:xfrm>
            <a:off x="-2" y="3495088"/>
            <a:ext cx="8238972" cy="2919040"/>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19" name="Rectangle 18"/>
          <p:cNvSpPr/>
          <p:nvPr/>
        </p:nvSpPr>
        <p:spPr>
          <a:xfrm>
            <a:off x="374075" y="3572834"/>
            <a:ext cx="3087698" cy="5539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INTRODUCTION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BA700850-254E-CEFB-BC41-4AE4951B636A}"/>
              </a:ext>
            </a:extLst>
          </p:cNvPr>
          <p:cNvSpPr/>
          <p:nvPr/>
        </p:nvSpPr>
        <p:spPr>
          <a:xfrm>
            <a:off x="-1" y="2694838"/>
            <a:ext cx="8253178" cy="827368"/>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22" name="Rectangle 21"/>
          <p:cNvSpPr/>
          <p:nvPr/>
        </p:nvSpPr>
        <p:spPr>
          <a:xfrm>
            <a:off x="374075" y="9426816"/>
            <a:ext cx="1881747"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RESULTS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374075" y="12409792"/>
            <a:ext cx="5938277" cy="5384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DISCUSSION AND CONCLUSION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37EBDFB-488C-7F01-6765-9DA15C34FC9B}"/>
              </a:ext>
            </a:extLst>
          </p:cNvPr>
          <p:cNvSpPr txBox="1"/>
          <p:nvPr/>
        </p:nvSpPr>
        <p:spPr>
          <a:xfrm>
            <a:off x="374075" y="2693072"/>
            <a:ext cx="7554555" cy="707886"/>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Hybrid ML Framework For SSD and HDD Using Random Forest Comparing over Gradient Boosting For Improved Accuracy</a:t>
            </a:r>
          </a:p>
        </p:txBody>
      </p:sp>
      <p:sp>
        <p:nvSpPr>
          <p:cNvPr id="16" name="TextBox 15">
            <a:extLst>
              <a:ext uri="{FF2B5EF4-FFF2-40B4-BE49-F238E27FC236}">
                <a16:creationId xmlns:a16="http://schemas.microsoft.com/office/drawing/2014/main" id="{2C70C69D-E356-94D3-988E-D3E99B4033C3}"/>
              </a:ext>
            </a:extLst>
          </p:cNvPr>
          <p:cNvSpPr txBox="1"/>
          <p:nvPr/>
        </p:nvSpPr>
        <p:spPr>
          <a:xfrm>
            <a:off x="9643463" y="1470940"/>
            <a:ext cx="6420886" cy="1246495"/>
          </a:xfrm>
          <a:prstGeom prst="rect">
            <a:avLst/>
          </a:prstGeom>
          <a:noFill/>
        </p:spPr>
        <p:txBody>
          <a:bodyPr wrap="square" rtlCol="0">
            <a:spAutoFit/>
          </a:bodyPr>
          <a:lstStyle/>
          <a:p>
            <a:pPr algn="r"/>
            <a:r>
              <a:rPr lang="en-US" sz="2500" b="1" dirty="0">
                <a:solidFill>
                  <a:schemeClr val="bg1"/>
                </a:solidFill>
                <a:latin typeface="Times New Roman" panose="02020603050405020304" pitchFamily="18" charset="0"/>
                <a:cs typeface="Times New Roman" panose="02020603050405020304" pitchFamily="18" charset="0"/>
              </a:rPr>
              <a:t>Register No: </a:t>
            </a:r>
            <a:r>
              <a:rPr lang="en-US" sz="2500" i="0" dirty="0">
                <a:solidFill>
                  <a:schemeClr val="bg1"/>
                </a:solidFill>
                <a:effectLst/>
                <a:latin typeface="Times New Roman" panose="02020603050405020304" pitchFamily="18" charset="0"/>
                <a:cs typeface="Times New Roman" panose="02020603050405020304" pitchFamily="18" charset="0"/>
              </a:rPr>
              <a:t>192211771</a:t>
            </a:r>
            <a:endParaRPr lang="en-US" sz="2500" b="1" dirty="0">
              <a:solidFill>
                <a:schemeClr val="bg1"/>
              </a:solidFill>
              <a:latin typeface="Times New Roman" panose="02020603050405020304" pitchFamily="18" charset="0"/>
              <a:cs typeface="Times New Roman" panose="02020603050405020304" pitchFamily="18" charset="0"/>
            </a:endParaRPr>
          </a:p>
          <a:p>
            <a:pPr algn="r"/>
            <a:r>
              <a:rPr lang="en-US" sz="2500" b="1" dirty="0">
                <a:solidFill>
                  <a:schemeClr val="bg1"/>
                </a:solidFill>
                <a:latin typeface="Times New Roman" panose="02020603050405020304" pitchFamily="18" charset="0"/>
                <a:cs typeface="Times New Roman" panose="02020603050405020304" pitchFamily="18" charset="0"/>
              </a:rPr>
              <a:t>Students Name: </a:t>
            </a:r>
            <a:r>
              <a:rPr lang="en-IN" sz="2500" dirty="0">
                <a:solidFill>
                  <a:schemeClr val="bg1"/>
                </a:solidFill>
                <a:latin typeface="Times New Roman" panose="02020603050405020304" pitchFamily="18" charset="0"/>
                <a:cs typeface="Times New Roman" panose="02020603050405020304" pitchFamily="18" charset="0"/>
              </a:rPr>
              <a:t>Mourya.P</a:t>
            </a:r>
            <a:r>
              <a:rPr lang="en-US" sz="2500" dirty="0">
                <a:solidFill>
                  <a:schemeClr val="bg1"/>
                </a:solidFill>
                <a:latin typeface="Arial" panose="020B0604020202020204" pitchFamily="34" charset="0"/>
                <a:cs typeface="Arial" panose="020B0604020202020204" pitchFamily="34" charset="0"/>
              </a:rPr>
              <a:t> </a:t>
            </a:r>
            <a:endParaRPr lang="en-US" sz="2500" b="1" dirty="0">
              <a:solidFill>
                <a:schemeClr val="bg1"/>
              </a:solidFill>
              <a:latin typeface="Times New Roman" panose="02020603050405020304" pitchFamily="18" charset="0"/>
              <a:cs typeface="Times New Roman" panose="02020603050405020304" pitchFamily="18" charset="0"/>
            </a:endParaRPr>
          </a:p>
          <a:p>
            <a:pPr algn="r"/>
            <a:r>
              <a:rPr lang="en-US" sz="2500" b="1" dirty="0">
                <a:solidFill>
                  <a:schemeClr val="bg1"/>
                </a:solidFill>
                <a:latin typeface="Times New Roman" panose="02020603050405020304" pitchFamily="18" charset="0"/>
                <a:cs typeface="Times New Roman" panose="02020603050405020304" pitchFamily="18" charset="0"/>
              </a:rPr>
              <a:t>Guided By </a:t>
            </a:r>
            <a:r>
              <a:rPr lang="en-IN" sz="2500" dirty="0">
                <a:solidFill>
                  <a:schemeClr val="bg1"/>
                </a:solidFill>
                <a:latin typeface="Times New Roman" panose="02020603050405020304" pitchFamily="18" charset="0"/>
                <a:cs typeface="Times New Roman" panose="02020603050405020304" pitchFamily="18" charset="0"/>
              </a:rPr>
              <a:t>Ms. Radhika Sethuraman</a:t>
            </a:r>
            <a:endParaRPr lang="en-IN" sz="2500" b="1" dirty="0">
              <a:solidFill>
                <a:schemeClr val="bg1"/>
              </a:solidFill>
              <a:latin typeface="Times New Roman" panose="02020603050405020304" pitchFamily="18" charset="0"/>
              <a:cs typeface="Times New Roman" panose="02020603050405020304" pitchFamily="18" charset="0"/>
            </a:endParaRPr>
          </a:p>
        </p:txBody>
      </p:sp>
      <p:sp>
        <p:nvSpPr>
          <p:cNvPr id="30" name="Rectangle 29">
            <a:extLst>
              <a:ext uri="{FF2B5EF4-FFF2-40B4-BE49-F238E27FC236}">
                <a16:creationId xmlns:a16="http://schemas.microsoft.com/office/drawing/2014/main" id="{55F827C5-EB36-36D8-57E4-E142A1A8C67D}"/>
              </a:ext>
            </a:extLst>
          </p:cNvPr>
          <p:cNvSpPr/>
          <p:nvPr/>
        </p:nvSpPr>
        <p:spPr>
          <a:xfrm>
            <a:off x="-4" y="6397991"/>
            <a:ext cx="8238971" cy="2919040"/>
          </a:xfrm>
          <a:prstGeom prst="rect">
            <a:avLst/>
          </a:prstGeom>
          <a:solidFill>
            <a:srgbClr val="BFE7FF"/>
          </a:solidFill>
          <a:ln>
            <a:solidFill>
              <a:srgbClr val="BFE7FF"/>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33" name="Rectangle 32">
            <a:extLst>
              <a:ext uri="{FF2B5EF4-FFF2-40B4-BE49-F238E27FC236}">
                <a16:creationId xmlns:a16="http://schemas.microsoft.com/office/drawing/2014/main" id="{55F827C5-EB36-36D8-57E4-E142A1A8C67D}"/>
              </a:ext>
            </a:extLst>
          </p:cNvPr>
          <p:cNvSpPr/>
          <p:nvPr/>
        </p:nvSpPr>
        <p:spPr>
          <a:xfrm>
            <a:off x="14204" y="14778836"/>
            <a:ext cx="8257345" cy="2919040"/>
          </a:xfrm>
          <a:prstGeom prst="rect">
            <a:avLst/>
          </a:prstGeom>
          <a:solidFill>
            <a:srgbClr val="D6F5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34" name="Rectangle 33">
            <a:extLst>
              <a:ext uri="{FF2B5EF4-FFF2-40B4-BE49-F238E27FC236}">
                <a16:creationId xmlns:a16="http://schemas.microsoft.com/office/drawing/2014/main" id="{55F827C5-EB36-36D8-57E4-E142A1A8C67D}"/>
              </a:ext>
            </a:extLst>
          </p:cNvPr>
          <p:cNvSpPr/>
          <p:nvPr/>
        </p:nvSpPr>
        <p:spPr>
          <a:xfrm>
            <a:off x="-4168" y="18711686"/>
            <a:ext cx="8257344" cy="2919040"/>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35" name="Rectangle 34">
            <a:extLst>
              <a:ext uri="{FF2B5EF4-FFF2-40B4-BE49-F238E27FC236}">
                <a16:creationId xmlns:a16="http://schemas.microsoft.com/office/drawing/2014/main" id="{BA700850-254E-CEFB-BC41-4AE4951B636A}"/>
              </a:ext>
            </a:extLst>
          </p:cNvPr>
          <p:cNvSpPr/>
          <p:nvPr/>
        </p:nvSpPr>
        <p:spPr>
          <a:xfrm>
            <a:off x="-1" y="17949225"/>
            <a:ext cx="8238970" cy="775510"/>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40" name="TextBox 39">
            <a:extLst>
              <a:ext uri="{FF2B5EF4-FFF2-40B4-BE49-F238E27FC236}">
                <a16:creationId xmlns:a16="http://schemas.microsoft.com/office/drawing/2014/main" id="{937EBDFB-488C-7F01-6765-9DA15C34FC9B}"/>
              </a:ext>
            </a:extLst>
          </p:cNvPr>
          <p:cNvSpPr txBox="1"/>
          <p:nvPr/>
        </p:nvSpPr>
        <p:spPr>
          <a:xfrm>
            <a:off x="52507" y="18048678"/>
            <a:ext cx="8227125" cy="707886"/>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Optimization Of SSD And HDD Performance Using XG Boost Comparing Over SVM For Improved Accuracy.</a:t>
            </a:r>
          </a:p>
        </p:txBody>
      </p:sp>
      <p:sp>
        <p:nvSpPr>
          <p:cNvPr id="41" name="Rectangle 40">
            <a:extLst>
              <a:ext uri="{FF2B5EF4-FFF2-40B4-BE49-F238E27FC236}">
                <a16:creationId xmlns:a16="http://schemas.microsoft.com/office/drawing/2014/main" id="{55F827C5-EB36-36D8-57E4-E142A1A8C67D}"/>
              </a:ext>
            </a:extLst>
          </p:cNvPr>
          <p:cNvSpPr/>
          <p:nvPr/>
        </p:nvSpPr>
        <p:spPr>
          <a:xfrm>
            <a:off x="0" y="21614589"/>
            <a:ext cx="8238969" cy="2919040"/>
          </a:xfrm>
          <a:prstGeom prst="rect">
            <a:avLst/>
          </a:prstGeom>
          <a:solidFill>
            <a:srgbClr val="BFE7FF"/>
          </a:solidFill>
          <a:ln w="6350">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42" name="Rectangle 41">
            <a:extLst>
              <a:ext uri="{FF2B5EF4-FFF2-40B4-BE49-F238E27FC236}">
                <a16:creationId xmlns:a16="http://schemas.microsoft.com/office/drawing/2014/main" id="{55F827C5-EB36-36D8-57E4-E142A1A8C67D}"/>
              </a:ext>
            </a:extLst>
          </p:cNvPr>
          <p:cNvSpPr/>
          <p:nvPr/>
        </p:nvSpPr>
        <p:spPr>
          <a:xfrm>
            <a:off x="-14207" y="24470822"/>
            <a:ext cx="8243808" cy="2943313"/>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43" name="Rectangle 42">
            <a:extLst>
              <a:ext uri="{FF2B5EF4-FFF2-40B4-BE49-F238E27FC236}">
                <a16:creationId xmlns:a16="http://schemas.microsoft.com/office/drawing/2014/main" id="{55F827C5-EB36-36D8-57E4-E142A1A8C67D}"/>
              </a:ext>
            </a:extLst>
          </p:cNvPr>
          <p:cNvSpPr/>
          <p:nvPr/>
        </p:nvSpPr>
        <p:spPr>
          <a:xfrm>
            <a:off x="-25681" y="27423483"/>
            <a:ext cx="8257345" cy="2559174"/>
          </a:xfrm>
          <a:prstGeom prst="rect">
            <a:avLst/>
          </a:prstGeom>
          <a:solidFill>
            <a:srgbClr val="FB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44" name="Rectangle 43">
            <a:extLst>
              <a:ext uri="{FF2B5EF4-FFF2-40B4-BE49-F238E27FC236}">
                <a16:creationId xmlns:a16="http://schemas.microsoft.com/office/drawing/2014/main" id="{55F827C5-EB36-36D8-57E4-E142A1A8C67D}"/>
              </a:ext>
            </a:extLst>
          </p:cNvPr>
          <p:cNvSpPr/>
          <p:nvPr/>
        </p:nvSpPr>
        <p:spPr>
          <a:xfrm>
            <a:off x="-14513" y="29995434"/>
            <a:ext cx="8257345" cy="2919040"/>
          </a:xfrm>
          <a:prstGeom prst="rect">
            <a:avLst/>
          </a:prstGeom>
          <a:solidFill>
            <a:srgbClr val="D6F5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20" name="Rectangle 19"/>
          <p:cNvSpPr/>
          <p:nvPr/>
        </p:nvSpPr>
        <p:spPr>
          <a:xfrm>
            <a:off x="374075" y="6487364"/>
            <a:ext cx="5190184"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MATERIALS AND METHODS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374075" y="14925302"/>
            <a:ext cx="3025876"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BIBLIOGRAPHY</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45" name="Rectangle 44"/>
          <p:cNvSpPr/>
          <p:nvPr/>
        </p:nvSpPr>
        <p:spPr>
          <a:xfrm>
            <a:off x="386772" y="18821473"/>
            <a:ext cx="3264235" cy="5539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INTRODUCTION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46" name="Rectangle 45"/>
          <p:cNvSpPr/>
          <p:nvPr/>
        </p:nvSpPr>
        <p:spPr>
          <a:xfrm>
            <a:off x="597918" y="24600747"/>
            <a:ext cx="1881747"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RESULTS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47" name="Rectangle 46"/>
          <p:cNvSpPr/>
          <p:nvPr/>
        </p:nvSpPr>
        <p:spPr>
          <a:xfrm>
            <a:off x="483453" y="27550932"/>
            <a:ext cx="5914799"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DISCUSSION AND CONCLUSION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51" name="Rectangle 50"/>
          <p:cNvSpPr/>
          <p:nvPr/>
        </p:nvSpPr>
        <p:spPr>
          <a:xfrm>
            <a:off x="414003" y="21748132"/>
            <a:ext cx="5190184"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MATERIALS AND METHODS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53" name="Rectangle 52"/>
          <p:cNvSpPr/>
          <p:nvPr/>
        </p:nvSpPr>
        <p:spPr>
          <a:xfrm>
            <a:off x="443336" y="30113219"/>
            <a:ext cx="3025876" cy="47440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BIBLIOGRAPHY</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66" name="Rectangle 65">
            <a:extLst>
              <a:ext uri="{FF2B5EF4-FFF2-40B4-BE49-F238E27FC236}">
                <a16:creationId xmlns:a16="http://schemas.microsoft.com/office/drawing/2014/main" id="{55F827C5-EB36-36D8-57E4-E142A1A8C67D}"/>
              </a:ext>
            </a:extLst>
          </p:cNvPr>
          <p:cNvSpPr/>
          <p:nvPr/>
        </p:nvSpPr>
        <p:spPr>
          <a:xfrm>
            <a:off x="8465554" y="12206904"/>
            <a:ext cx="7993645" cy="2952791"/>
          </a:xfrm>
          <a:prstGeom prst="rect">
            <a:avLst/>
          </a:prstGeom>
          <a:solidFill>
            <a:srgbClr val="FB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67" name="Rectangle 66">
            <a:extLst>
              <a:ext uri="{FF2B5EF4-FFF2-40B4-BE49-F238E27FC236}">
                <a16:creationId xmlns:a16="http://schemas.microsoft.com/office/drawing/2014/main" id="{55F827C5-EB36-36D8-57E4-E142A1A8C67D}"/>
              </a:ext>
            </a:extLst>
          </p:cNvPr>
          <p:cNvSpPr/>
          <p:nvPr/>
        </p:nvSpPr>
        <p:spPr>
          <a:xfrm>
            <a:off x="8445208" y="9337752"/>
            <a:ext cx="8013991" cy="2933722"/>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68" name="Rectangle 67">
            <a:extLst>
              <a:ext uri="{FF2B5EF4-FFF2-40B4-BE49-F238E27FC236}">
                <a16:creationId xmlns:a16="http://schemas.microsoft.com/office/drawing/2014/main" id="{55F827C5-EB36-36D8-57E4-E142A1A8C67D}"/>
              </a:ext>
            </a:extLst>
          </p:cNvPr>
          <p:cNvSpPr/>
          <p:nvPr/>
        </p:nvSpPr>
        <p:spPr>
          <a:xfrm>
            <a:off x="8449375" y="3506218"/>
            <a:ext cx="8009826" cy="2919040"/>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69" name="Rectangle 68">
            <a:extLst>
              <a:ext uri="{FF2B5EF4-FFF2-40B4-BE49-F238E27FC236}">
                <a16:creationId xmlns:a16="http://schemas.microsoft.com/office/drawing/2014/main" id="{55F827C5-EB36-36D8-57E4-E142A1A8C67D}"/>
              </a:ext>
            </a:extLst>
          </p:cNvPr>
          <p:cNvSpPr/>
          <p:nvPr/>
        </p:nvSpPr>
        <p:spPr>
          <a:xfrm>
            <a:off x="8449373" y="6409121"/>
            <a:ext cx="8009827" cy="2919040"/>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0" name="Rectangle 69">
            <a:extLst>
              <a:ext uri="{FF2B5EF4-FFF2-40B4-BE49-F238E27FC236}">
                <a16:creationId xmlns:a16="http://schemas.microsoft.com/office/drawing/2014/main" id="{55F827C5-EB36-36D8-57E4-E142A1A8C67D}"/>
              </a:ext>
            </a:extLst>
          </p:cNvPr>
          <p:cNvSpPr/>
          <p:nvPr/>
        </p:nvSpPr>
        <p:spPr>
          <a:xfrm>
            <a:off x="8463581" y="14789966"/>
            <a:ext cx="7995619" cy="2919040"/>
          </a:xfrm>
          <a:prstGeom prst="rect">
            <a:avLst/>
          </a:prstGeom>
          <a:solidFill>
            <a:srgbClr val="D6F5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1" name="Rectangle 70">
            <a:extLst>
              <a:ext uri="{FF2B5EF4-FFF2-40B4-BE49-F238E27FC236}">
                <a16:creationId xmlns:a16="http://schemas.microsoft.com/office/drawing/2014/main" id="{55F827C5-EB36-36D8-57E4-E142A1A8C67D}"/>
              </a:ext>
            </a:extLst>
          </p:cNvPr>
          <p:cNvSpPr/>
          <p:nvPr/>
        </p:nvSpPr>
        <p:spPr>
          <a:xfrm>
            <a:off x="8469589" y="18722816"/>
            <a:ext cx="8038263" cy="2919040"/>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2" name="Rectangle 71">
            <a:extLst>
              <a:ext uri="{FF2B5EF4-FFF2-40B4-BE49-F238E27FC236}">
                <a16:creationId xmlns:a16="http://schemas.microsoft.com/office/drawing/2014/main" id="{55F827C5-EB36-36D8-57E4-E142A1A8C67D}"/>
              </a:ext>
            </a:extLst>
          </p:cNvPr>
          <p:cNvSpPr/>
          <p:nvPr/>
        </p:nvSpPr>
        <p:spPr>
          <a:xfrm>
            <a:off x="8469589" y="21651137"/>
            <a:ext cx="8038263" cy="2919040"/>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3" name="Rectangle 72">
            <a:extLst>
              <a:ext uri="{FF2B5EF4-FFF2-40B4-BE49-F238E27FC236}">
                <a16:creationId xmlns:a16="http://schemas.microsoft.com/office/drawing/2014/main" id="{55F827C5-EB36-36D8-57E4-E142A1A8C67D}"/>
              </a:ext>
            </a:extLst>
          </p:cNvPr>
          <p:cNvSpPr/>
          <p:nvPr/>
        </p:nvSpPr>
        <p:spPr>
          <a:xfrm>
            <a:off x="8469589" y="24533629"/>
            <a:ext cx="8038263" cy="2954443"/>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4" name="Rectangle 73">
            <a:extLst>
              <a:ext uri="{FF2B5EF4-FFF2-40B4-BE49-F238E27FC236}">
                <a16:creationId xmlns:a16="http://schemas.microsoft.com/office/drawing/2014/main" id="{55F827C5-EB36-36D8-57E4-E142A1A8C67D}"/>
              </a:ext>
            </a:extLst>
          </p:cNvPr>
          <p:cNvSpPr/>
          <p:nvPr/>
        </p:nvSpPr>
        <p:spPr>
          <a:xfrm>
            <a:off x="8469589" y="27457253"/>
            <a:ext cx="8038263" cy="2548044"/>
          </a:xfrm>
          <a:prstGeom prst="rect">
            <a:avLst/>
          </a:prstGeom>
          <a:solidFill>
            <a:srgbClr val="FB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5" name="Rectangle 74">
            <a:extLst>
              <a:ext uri="{FF2B5EF4-FFF2-40B4-BE49-F238E27FC236}">
                <a16:creationId xmlns:a16="http://schemas.microsoft.com/office/drawing/2014/main" id="{55F827C5-EB36-36D8-57E4-E142A1A8C67D}"/>
              </a:ext>
            </a:extLst>
          </p:cNvPr>
          <p:cNvSpPr/>
          <p:nvPr/>
        </p:nvSpPr>
        <p:spPr>
          <a:xfrm>
            <a:off x="8469589" y="30006564"/>
            <a:ext cx="8038263" cy="2919040"/>
          </a:xfrm>
          <a:prstGeom prst="rect">
            <a:avLst/>
          </a:prstGeom>
          <a:solidFill>
            <a:srgbClr val="D6F5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7" name="Rectangle 76">
            <a:extLst>
              <a:ext uri="{FF2B5EF4-FFF2-40B4-BE49-F238E27FC236}">
                <a16:creationId xmlns:a16="http://schemas.microsoft.com/office/drawing/2014/main" id="{BA700850-254E-CEFB-BC41-4AE4951B636A}"/>
              </a:ext>
            </a:extLst>
          </p:cNvPr>
          <p:cNvSpPr/>
          <p:nvPr/>
        </p:nvSpPr>
        <p:spPr>
          <a:xfrm>
            <a:off x="8445209" y="2691614"/>
            <a:ext cx="8013992" cy="802627"/>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78" name="TextBox 77">
            <a:extLst>
              <a:ext uri="{FF2B5EF4-FFF2-40B4-BE49-F238E27FC236}">
                <a16:creationId xmlns:a16="http://schemas.microsoft.com/office/drawing/2014/main" id="{937EBDFB-488C-7F01-6765-9DA15C34FC9B}"/>
              </a:ext>
            </a:extLst>
          </p:cNvPr>
          <p:cNvSpPr txBox="1"/>
          <p:nvPr/>
        </p:nvSpPr>
        <p:spPr>
          <a:xfrm>
            <a:off x="8613760" y="2743606"/>
            <a:ext cx="7761607" cy="707886"/>
          </a:xfrm>
          <a:prstGeom prst="rect">
            <a:avLst/>
          </a:prstGeom>
          <a:noFill/>
        </p:spPr>
        <p:txBody>
          <a:bodyPr wrap="square" rtlCol="0">
            <a:spAutoFit/>
          </a:bodyPr>
          <a:lstStyle/>
          <a:p>
            <a:pPr algn="ct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Hybrid Framework For SSD and HDD performance using Random Forest comparing over XGBoost for Improved Accuracy.</a:t>
            </a:r>
            <a:endParaRPr lang="en-US" sz="2000" b="1" dirty="0">
              <a:latin typeface="Times New Roman" panose="02020603050405020304" pitchFamily="18" charset="0"/>
              <a:cs typeface="Times New Roman" panose="02020603050405020304" pitchFamily="18" charset="0"/>
            </a:endParaRPr>
          </a:p>
        </p:txBody>
      </p:sp>
      <p:sp>
        <p:nvSpPr>
          <p:cNvPr id="79" name="Rectangle 78">
            <a:extLst>
              <a:ext uri="{FF2B5EF4-FFF2-40B4-BE49-F238E27FC236}">
                <a16:creationId xmlns:a16="http://schemas.microsoft.com/office/drawing/2014/main" id="{BA700850-254E-CEFB-BC41-4AE4951B636A}"/>
              </a:ext>
            </a:extLst>
          </p:cNvPr>
          <p:cNvSpPr/>
          <p:nvPr/>
        </p:nvSpPr>
        <p:spPr>
          <a:xfrm>
            <a:off x="8445207" y="17936177"/>
            <a:ext cx="8038263" cy="775510"/>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80" name="TextBox 79">
            <a:extLst>
              <a:ext uri="{FF2B5EF4-FFF2-40B4-BE49-F238E27FC236}">
                <a16:creationId xmlns:a16="http://schemas.microsoft.com/office/drawing/2014/main" id="{937EBDFB-488C-7F01-6765-9DA15C34FC9B}"/>
              </a:ext>
            </a:extLst>
          </p:cNvPr>
          <p:cNvSpPr txBox="1"/>
          <p:nvPr/>
        </p:nvSpPr>
        <p:spPr>
          <a:xfrm>
            <a:off x="8463581" y="17995643"/>
            <a:ext cx="7995618" cy="707886"/>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Hybrid Machine Learning Framework For SSD And HDD Using SVM Comparing Over ANN For Improve Accuracy.</a:t>
            </a:r>
          </a:p>
        </p:txBody>
      </p:sp>
      <p:sp>
        <p:nvSpPr>
          <p:cNvPr id="82" name="Rectangle 81"/>
          <p:cNvSpPr/>
          <p:nvPr/>
        </p:nvSpPr>
        <p:spPr>
          <a:xfrm>
            <a:off x="8673986" y="18781071"/>
            <a:ext cx="3264235" cy="5539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INTRODUCTION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83" name="Rectangle 82"/>
          <p:cNvSpPr/>
          <p:nvPr/>
        </p:nvSpPr>
        <p:spPr>
          <a:xfrm>
            <a:off x="8673986" y="24663028"/>
            <a:ext cx="1881747"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RESULTS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84" name="Rectangle 83"/>
          <p:cNvSpPr/>
          <p:nvPr/>
        </p:nvSpPr>
        <p:spPr>
          <a:xfrm>
            <a:off x="8673986" y="27611746"/>
            <a:ext cx="5914799"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DISCUSSION AND CONCLUSION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88" name="Rectangle 87"/>
          <p:cNvSpPr/>
          <p:nvPr/>
        </p:nvSpPr>
        <p:spPr>
          <a:xfrm>
            <a:off x="8673986" y="21710056"/>
            <a:ext cx="5190184"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MATERIALS AND METHODS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90" name="Rectangle 89"/>
          <p:cNvSpPr/>
          <p:nvPr/>
        </p:nvSpPr>
        <p:spPr>
          <a:xfrm>
            <a:off x="8673986" y="30096814"/>
            <a:ext cx="3025876" cy="47440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BIBLIOGRAPHY</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91" name="Rectangle 90"/>
          <p:cNvSpPr/>
          <p:nvPr/>
        </p:nvSpPr>
        <p:spPr>
          <a:xfrm>
            <a:off x="8613756" y="3590874"/>
            <a:ext cx="3264235" cy="5539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INTRODUCTION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92" name="Rectangle 91"/>
          <p:cNvSpPr/>
          <p:nvPr/>
        </p:nvSpPr>
        <p:spPr>
          <a:xfrm>
            <a:off x="8613756" y="9401566"/>
            <a:ext cx="1881747"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RESULTS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93" name="Rectangle 92"/>
          <p:cNvSpPr/>
          <p:nvPr/>
        </p:nvSpPr>
        <p:spPr>
          <a:xfrm>
            <a:off x="8613756" y="12429192"/>
            <a:ext cx="5914799"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DISCUSSION AND CONCLUSION</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97" name="Rectangle 96"/>
          <p:cNvSpPr/>
          <p:nvPr/>
        </p:nvSpPr>
        <p:spPr>
          <a:xfrm>
            <a:off x="8613756" y="6529931"/>
            <a:ext cx="5190184"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MATERIALS AND METHODS</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99" name="Rectangle 98"/>
          <p:cNvSpPr/>
          <p:nvPr/>
        </p:nvSpPr>
        <p:spPr>
          <a:xfrm>
            <a:off x="8632194" y="14956109"/>
            <a:ext cx="3025876"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Times New Roman" panose="02020603050405020304" pitchFamily="18" charset="0"/>
                <a:cs typeface="Times New Roman" panose="02020603050405020304" pitchFamily="18" charset="0"/>
              </a:rPr>
              <a:t>BIBLIOGRAPHY</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25" name="Rectangle 10">
            <a:extLst>
              <a:ext uri="{FF2B5EF4-FFF2-40B4-BE49-F238E27FC236}">
                <a16:creationId xmlns:a16="http://schemas.microsoft.com/office/drawing/2014/main" id="{48A2B2F8-3ADB-EAEF-B1C5-A29F8118F47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1">
            <a:extLst>
              <a:ext uri="{FF2B5EF4-FFF2-40B4-BE49-F238E27FC236}">
                <a16:creationId xmlns:a16="http://schemas.microsoft.com/office/drawing/2014/main" id="{5CD2FA34-A5B9-DB6E-BC31-3624DA3BABB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14">
            <a:extLst>
              <a:ext uri="{FF2B5EF4-FFF2-40B4-BE49-F238E27FC236}">
                <a16:creationId xmlns:a16="http://schemas.microsoft.com/office/drawing/2014/main" id="{F276320D-A0A6-796A-0530-3611587E95E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5" name="Rectangle 15">
            <a:extLst>
              <a:ext uri="{FF2B5EF4-FFF2-40B4-BE49-F238E27FC236}">
                <a16:creationId xmlns:a16="http://schemas.microsoft.com/office/drawing/2014/main" id="{66676541-9A29-C10A-BFD1-32AA30489F4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6" name="Rectangle 16">
            <a:extLst>
              <a:ext uri="{FF2B5EF4-FFF2-40B4-BE49-F238E27FC236}">
                <a16:creationId xmlns:a16="http://schemas.microsoft.com/office/drawing/2014/main" id="{6FB2A44D-8BC1-3699-1692-6ABF11579DD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7" name="Rectangle 17">
            <a:extLst>
              <a:ext uri="{FF2B5EF4-FFF2-40B4-BE49-F238E27FC236}">
                <a16:creationId xmlns:a16="http://schemas.microsoft.com/office/drawing/2014/main" id="{889E609C-EFC2-F5A5-817A-E0468DE7385B}"/>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8" name="Rectangle 18">
            <a:extLst>
              <a:ext uri="{FF2B5EF4-FFF2-40B4-BE49-F238E27FC236}">
                <a16:creationId xmlns:a16="http://schemas.microsoft.com/office/drawing/2014/main" id="{39C046D7-C05F-1CE6-6608-106292101BC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9" name="Rectangle 19">
            <a:extLst>
              <a:ext uri="{FF2B5EF4-FFF2-40B4-BE49-F238E27FC236}">
                <a16:creationId xmlns:a16="http://schemas.microsoft.com/office/drawing/2014/main" id="{88C58EF7-B32C-C3EB-8326-1B6094AADD91}"/>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1" name="TextBox 80">
            <a:extLst>
              <a:ext uri="{FF2B5EF4-FFF2-40B4-BE49-F238E27FC236}">
                <a16:creationId xmlns:a16="http://schemas.microsoft.com/office/drawing/2014/main" id="{88B58947-BAB7-177B-E444-C0F68F79C332}"/>
              </a:ext>
            </a:extLst>
          </p:cNvPr>
          <p:cNvSpPr txBox="1"/>
          <p:nvPr/>
        </p:nvSpPr>
        <p:spPr>
          <a:xfrm>
            <a:off x="16064349" y="1767840"/>
            <a:ext cx="577731" cy="369332"/>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53D0FB39-462A-A5A3-B63A-972FDB6048C9}"/>
              </a:ext>
            </a:extLst>
          </p:cNvPr>
          <p:cNvSpPr txBox="1"/>
          <p:nvPr/>
        </p:nvSpPr>
        <p:spPr>
          <a:xfrm>
            <a:off x="264815" y="4107259"/>
            <a:ext cx="7812385" cy="2308324"/>
          </a:xfrm>
          <a:prstGeom prst="rect">
            <a:avLst/>
          </a:prstGeom>
          <a:noFill/>
        </p:spPr>
        <p:txBody>
          <a:bodyPr wrap="square" rtlCol="0">
            <a:spAutoFit/>
          </a:bodyPr>
          <a:lstStyle/>
          <a:p>
            <a:pPr marL="285750" indent="-285750" algn="just">
              <a:buFont typeface="Wingdings" panose="05000000000000000000" pitchFamily="2" charset="2"/>
              <a:buChar char="Ø"/>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This research aims to analyze and compare the performance characteristics of Solid-State Drives (SSD) and Hard Disk Drives (HDD) using real-world data.</a:t>
            </a:r>
          </a:p>
          <a:p>
            <a:pPr marL="285750" indent="-285750" algn="just">
              <a:buFont typeface="Wingdings" panose="05000000000000000000" pitchFamily="2" charset="2"/>
              <a:buChar char="Ø"/>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Random Forest and Gradient Boosting are applied to classify drive types and measure predictive accuracy.</a:t>
            </a:r>
          </a:p>
          <a:p>
            <a:pPr marL="285750" indent="-285750" algn="just">
              <a:buFont typeface="Wingdings" panose="05000000000000000000" pitchFamily="2" charset="2"/>
              <a:buChar char="Ø"/>
            </a:pPr>
            <a:r>
              <a:rPr lang="en-US" b="1" dirty="0">
                <a:latin typeface="Times New Roman" panose="02020603050405020304" pitchFamily="18" charset="0"/>
                <a:ea typeface="Tahoma" panose="020B0604030504040204" pitchFamily="34" charset="0"/>
                <a:cs typeface="Times New Roman" panose="02020603050405020304" pitchFamily="18" charset="0"/>
              </a:rPr>
              <a:t>Using commodity SSD and HDD drives, we have developed, structured and carefully evaluated </a:t>
            </a:r>
            <a:r>
              <a:rPr lang="en-US" b="1" dirty="0" err="1">
                <a:latin typeface="Times New Roman" panose="02020603050405020304" pitchFamily="18" charset="0"/>
                <a:ea typeface="Tahoma" panose="020B0604030504040204" pitchFamily="34" charset="0"/>
                <a:cs typeface="Times New Roman" panose="02020603050405020304" pitchFamily="18" charset="0"/>
              </a:rPr>
              <a:t>GreenDM</a:t>
            </a:r>
            <a:r>
              <a:rPr lang="en-US" b="1" dirty="0">
                <a:latin typeface="Times New Roman" panose="02020603050405020304" pitchFamily="18" charset="0"/>
                <a:ea typeface="Tahoma" panose="020B0604030504040204" pitchFamily="34" charset="0"/>
                <a:cs typeface="Times New Roman" panose="02020603050405020304" pitchFamily="18" charset="0"/>
              </a:rPr>
              <a:t> with some workloads.</a:t>
            </a: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It all depends on specific </a:t>
            </a:r>
            <a:r>
              <a:rPr lang="en-US" b="1" dirty="0" err="1">
                <a:latin typeface="Times New Roman" panose="02020603050405020304" pitchFamily="18" charset="0"/>
                <a:cs typeface="Times New Roman" panose="02020603050405020304" pitchFamily="18" charset="0"/>
              </a:rPr>
              <a:t>requirement,SSDs</a:t>
            </a:r>
            <a:r>
              <a:rPr lang="en-US" b="1" dirty="0">
                <a:latin typeface="Times New Roman" panose="02020603050405020304" pitchFamily="18" charset="0"/>
                <a:cs typeface="Times New Roman" panose="02020603050405020304" pitchFamily="18" charset="0"/>
              </a:rPr>
              <a:t> is better than HDD.</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1AA4A3AB-A350-FB1D-83CF-779F5EAB995D}"/>
              </a:ext>
            </a:extLst>
          </p:cNvPr>
          <p:cNvGraphicFramePr>
            <a:graphicFrameLocks noGrp="1"/>
          </p:cNvGraphicFramePr>
          <p:nvPr>
            <p:extLst>
              <p:ext uri="{D42A27DB-BD31-4B8C-83A1-F6EECF244321}">
                <p14:modId xmlns:p14="http://schemas.microsoft.com/office/powerpoint/2010/main" val="1602729748"/>
              </p:ext>
            </p:extLst>
          </p:nvPr>
        </p:nvGraphicFramePr>
        <p:xfrm>
          <a:off x="3753524" y="9988016"/>
          <a:ext cx="4323676" cy="2235243"/>
        </p:xfrm>
        <a:graphic>
          <a:graphicData uri="http://schemas.openxmlformats.org/drawingml/2006/table">
            <a:tbl>
              <a:tblPr firstRow="1" bandRow="1">
                <a:tableStyleId>{5940675A-B579-460E-94D1-54222C63F5DA}</a:tableStyleId>
              </a:tblPr>
              <a:tblGrid>
                <a:gridCol w="523921">
                  <a:extLst>
                    <a:ext uri="{9D8B030D-6E8A-4147-A177-3AD203B41FA5}">
                      <a16:colId xmlns:a16="http://schemas.microsoft.com/office/drawing/2014/main" val="353568870"/>
                    </a:ext>
                  </a:extLst>
                </a:gridCol>
                <a:gridCol w="857908">
                  <a:extLst>
                    <a:ext uri="{9D8B030D-6E8A-4147-A177-3AD203B41FA5}">
                      <a16:colId xmlns:a16="http://schemas.microsoft.com/office/drawing/2014/main" val="529427912"/>
                    </a:ext>
                  </a:extLst>
                </a:gridCol>
                <a:gridCol w="417860">
                  <a:extLst>
                    <a:ext uri="{9D8B030D-6E8A-4147-A177-3AD203B41FA5}">
                      <a16:colId xmlns:a16="http://schemas.microsoft.com/office/drawing/2014/main" val="775077070"/>
                    </a:ext>
                  </a:extLst>
                </a:gridCol>
                <a:gridCol w="728271">
                  <a:extLst>
                    <a:ext uri="{9D8B030D-6E8A-4147-A177-3AD203B41FA5}">
                      <a16:colId xmlns:a16="http://schemas.microsoft.com/office/drawing/2014/main" val="1326384847"/>
                    </a:ext>
                  </a:extLst>
                </a:gridCol>
                <a:gridCol w="847659">
                  <a:extLst>
                    <a:ext uri="{9D8B030D-6E8A-4147-A177-3AD203B41FA5}">
                      <a16:colId xmlns:a16="http://schemas.microsoft.com/office/drawing/2014/main" val="1528118843"/>
                    </a:ext>
                  </a:extLst>
                </a:gridCol>
                <a:gridCol w="948057">
                  <a:extLst>
                    <a:ext uri="{9D8B030D-6E8A-4147-A177-3AD203B41FA5}">
                      <a16:colId xmlns:a16="http://schemas.microsoft.com/office/drawing/2014/main" val="3202171590"/>
                    </a:ext>
                  </a:extLst>
                </a:gridCol>
              </a:tblGrid>
              <a:tr h="579806">
                <a:tc rowSpan="2">
                  <a:txBody>
                    <a:bodyPr/>
                    <a:lstStyle/>
                    <a:p>
                      <a:pPr algn="ctr"/>
                      <a:endParaRPr lang="en-IN" sz="1200" dirty="0">
                        <a:latin typeface="Times New Roman" panose="02020603050405020304" pitchFamily="18" charset="0"/>
                        <a:cs typeface="Times New Roman" panose="02020603050405020304" pitchFamily="18" charset="0"/>
                      </a:endParaRPr>
                    </a:p>
                  </a:txBody>
                  <a:tcPr anchor="ctr"/>
                </a:tc>
                <a:tc gridSpan="5">
                  <a:txBody>
                    <a:bodyPr/>
                    <a:lstStyle/>
                    <a:p>
                      <a:pPr algn="ctr"/>
                      <a:r>
                        <a:rPr lang="en-US" sz="1200" b="1" dirty="0">
                          <a:latin typeface="Times New Roman" panose="02020603050405020304" pitchFamily="18" charset="0"/>
                          <a:cs typeface="Times New Roman" panose="02020603050405020304" pitchFamily="18" charset="0"/>
                        </a:rPr>
                        <a:t>Group Statistics</a:t>
                      </a: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37632778"/>
                  </a:ext>
                </a:extLst>
              </a:tr>
              <a:tr h="579806">
                <a:tc vMerge="1">
                  <a:txBody>
                    <a:bodyPr/>
                    <a:lstStyle/>
                    <a:p>
                      <a:pPr algn="ct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Groups</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Mean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Std. Deviation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Std. Error</a:t>
                      </a:r>
                    </a:p>
                    <a:p>
                      <a:pPr algn="ctr"/>
                      <a:r>
                        <a:rPr lang="en-US" sz="1200" b="1" dirty="0">
                          <a:latin typeface="Times New Roman" panose="02020603050405020304" pitchFamily="18" charset="0"/>
                          <a:cs typeface="Times New Roman" panose="02020603050405020304" pitchFamily="18" charset="0"/>
                        </a:rPr>
                        <a:t>Mean</a:t>
                      </a:r>
                      <a:endParaRPr lang="en-IN" sz="1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016356"/>
                  </a:ext>
                </a:extLst>
              </a:tr>
              <a:tr h="579806">
                <a:tc rowSpan="2">
                  <a:txBody>
                    <a:bodyPr/>
                    <a:lstStyle/>
                    <a:p>
                      <a:pPr algn="ctr"/>
                      <a:r>
                        <a:rPr lang="en-US" sz="1600" b="1" dirty="0">
                          <a:latin typeface="Times New Roman" panose="02020603050405020304" pitchFamily="18" charset="0"/>
                          <a:cs typeface="Times New Roman" panose="02020603050405020304" pitchFamily="18" charset="0"/>
                        </a:rPr>
                        <a:t>Accuracy</a:t>
                      </a:r>
                      <a:endParaRPr lang="en-IN" sz="1600" b="1" dirty="0">
                        <a:latin typeface="Times New Roman" panose="02020603050405020304" pitchFamily="18" charset="0"/>
                        <a:cs typeface="Times New Roman" panose="02020603050405020304" pitchFamily="18" charset="0"/>
                      </a:endParaRPr>
                    </a:p>
                  </a:txBody>
                  <a:tcPr vert="vert270" anchor="ctr"/>
                </a:tc>
                <a:tc>
                  <a:txBody>
                    <a:bodyPr/>
                    <a:lstStyle/>
                    <a:p>
                      <a:pPr algn="ctr"/>
                      <a:r>
                        <a:rPr lang="en-US" sz="1200" b="1" dirty="0">
                          <a:latin typeface="Times New Roman" panose="02020603050405020304" pitchFamily="18" charset="0"/>
                          <a:cs typeface="Times New Roman" panose="02020603050405020304" pitchFamily="18" charset="0"/>
                        </a:rPr>
                        <a:t>R F</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98.1000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.73786</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.23333</a:t>
                      </a:r>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05873111"/>
                  </a:ext>
                </a:extLst>
              </a:tr>
              <a:tr h="495825">
                <a:tc vMerge="1">
                  <a:txBody>
                    <a:bodyPr/>
                    <a:lstStyle/>
                    <a:p>
                      <a:endParaRPr lang="en-IN" dirty="0"/>
                    </a:p>
                  </a:txBody>
                  <a:tcPr/>
                </a:tc>
                <a:tc>
                  <a:txBody>
                    <a:bodyPr/>
                    <a:lstStyle/>
                    <a:p>
                      <a:pPr algn="ctr"/>
                      <a:r>
                        <a:rPr lang="en-US" sz="1200" b="1" dirty="0">
                          <a:latin typeface="Times New Roman" panose="02020603050405020304" pitchFamily="18" charset="0"/>
                          <a:cs typeface="Times New Roman" panose="02020603050405020304" pitchFamily="18" charset="0"/>
                        </a:rPr>
                        <a:t>G B</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97.0000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.81650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.25820</a:t>
                      </a:r>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03425184"/>
                  </a:ext>
                </a:extLst>
              </a:tr>
            </a:tbl>
          </a:graphicData>
        </a:graphic>
      </p:graphicFrame>
      <p:sp>
        <p:nvSpPr>
          <p:cNvPr id="6" name="TextBox 5">
            <a:extLst>
              <a:ext uri="{FF2B5EF4-FFF2-40B4-BE49-F238E27FC236}">
                <a16:creationId xmlns:a16="http://schemas.microsoft.com/office/drawing/2014/main" id="{FC8C38BF-B466-3ACA-24FD-B33A91BE9121}"/>
              </a:ext>
            </a:extLst>
          </p:cNvPr>
          <p:cNvSpPr txBox="1"/>
          <p:nvPr/>
        </p:nvSpPr>
        <p:spPr>
          <a:xfrm>
            <a:off x="161581" y="12945753"/>
            <a:ext cx="7922705" cy="1754326"/>
          </a:xfrm>
          <a:prstGeom prst="rect">
            <a:avLst/>
          </a:prstGeom>
          <a:noFill/>
        </p:spPr>
        <p:txBody>
          <a:bodyPr wrap="square" rtlCol="0">
            <a:spAutoFit/>
          </a:bodyPr>
          <a:lstStyle/>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Based on Independent T-test analysis, the difference in mean accuracy is P=0.001 statistically significant (p &lt; 0.05).</a:t>
            </a: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 conclusion, the study demonstrates that Random Forest outperforms the Gradient Boosting algorithm for person detection in restricted zones.</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 Mean Value Accuracy of Random Forest is  98.19%   </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 Mean Value Accuracy of Gradient Boosting is 97.00%</a:t>
            </a:r>
          </a:p>
        </p:txBody>
      </p:sp>
      <p:sp>
        <p:nvSpPr>
          <p:cNvPr id="7" name="TextBox 6">
            <a:extLst>
              <a:ext uri="{FF2B5EF4-FFF2-40B4-BE49-F238E27FC236}">
                <a16:creationId xmlns:a16="http://schemas.microsoft.com/office/drawing/2014/main" id="{9E350486-3F50-A07B-BFEC-E30AC4EEA115}"/>
              </a:ext>
            </a:extLst>
          </p:cNvPr>
          <p:cNvSpPr txBox="1"/>
          <p:nvPr/>
        </p:nvSpPr>
        <p:spPr>
          <a:xfrm>
            <a:off x="201463" y="15549516"/>
            <a:ext cx="7882823" cy="2031325"/>
          </a:xfrm>
          <a:prstGeom prst="rect">
            <a:avLst/>
          </a:prstGeom>
          <a:noFill/>
        </p:spPr>
        <p:txBody>
          <a:bodyPr wrap="square" rtlCol="0">
            <a:spAutoFit/>
          </a:bodyPr>
          <a:lstStyle/>
          <a:p>
            <a:pPr marL="285750" indent="-285750" algn="just">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Kumar, A., &amp; Singh, M. (2023). </a:t>
            </a:r>
            <a:r>
              <a:rPr lang="en-IN" b="1" i="1" dirty="0">
                <a:latin typeface="Times New Roman" panose="02020603050405020304" pitchFamily="18" charset="0"/>
                <a:cs typeface="Times New Roman" panose="02020603050405020304" pitchFamily="18" charset="0"/>
              </a:rPr>
              <a:t>Machine Learning Models for Predicting Storage Performance in SSDs and HDDs. 18(2), </a:t>
            </a:r>
            <a:r>
              <a:rPr lang="en-IN" b="1" dirty="0">
                <a:latin typeface="Times New Roman" panose="02020603050405020304" pitchFamily="18" charset="0"/>
                <a:cs typeface="Times New Roman" panose="02020603050405020304" pitchFamily="18" charset="0"/>
              </a:rPr>
              <a:t>145–159.</a:t>
            </a:r>
          </a:p>
          <a:p>
            <a:pPr marL="285750" indent="-285750" algn="just">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Zhao, H., &amp; Liu, F. (2024). </a:t>
            </a:r>
            <a:r>
              <a:rPr lang="en-IN" b="1" i="1" dirty="0">
                <a:latin typeface="Times New Roman" panose="02020603050405020304" pitchFamily="18" charset="0"/>
                <a:cs typeface="Times New Roman" panose="02020603050405020304" pitchFamily="18" charset="0"/>
              </a:rPr>
              <a:t>Data-Driven Classification of Storage Devices Using Supervised Learning Algorithms</a:t>
            </a:r>
            <a:r>
              <a:rPr lang="en-IN" b="1" dirty="0">
                <a:latin typeface="Times New Roman" panose="02020603050405020304" pitchFamily="18" charset="0"/>
                <a:cs typeface="Times New Roman" panose="02020603050405020304" pitchFamily="18" charset="0"/>
              </a:rPr>
              <a:t>. 23(1).</a:t>
            </a:r>
          </a:p>
          <a:p>
            <a:pPr marL="285750" indent="-285750" algn="just">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Cheng, Y., &amp; Gupta, R. (2023). </a:t>
            </a:r>
            <a:r>
              <a:rPr lang="en-IN" b="1" i="1" dirty="0">
                <a:latin typeface="Times New Roman" panose="02020603050405020304" pitchFamily="18" charset="0"/>
                <a:cs typeface="Times New Roman" panose="02020603050405020304" pitchFamily="18" charset="0"/>
              </a:rPr>
              <a:t>Performance Prediction of Storage Devices Using Ensemble Learning Methods. IEEE Transactions on Computers</a:t>
            </a:r>
            <a:r>
              <a:rPr lang="en-IN" b="1" dirty="0">
                <a:latin typeface="Times New Roman" panose="02020603050405020304" pitchFamily="18" charset="0"/>
                <a:cs typeface="Times New Roman" panose="02020603050405020304" pitchFamily="18" charset="0"/>
              </a:rPr>
              <a:t>, 72(4), 812–821.</a:t>
            </a:r>
          </a:p>
        </p:txBody>
      </p:sp>
      <p:sp>
        <p:nvSpPr>
          <p:cNvPr id="11" name="TextBox 10">
            <a:extLst>
              <a:ext uri="{FF2B5EF4-FFF2-40B4-BE49-F238E27FC236}">
                <a16:creationId xmlns:a16="http://schemas.microsoft.com/office/drawing/2014/main" id="{85B23BE8-B602-2F60-168F-83CDD7465DC1}"/>
              </a:ext>
            </a:extLst>
          </p:cNvPr>
          <p:cNvSpPr txBox="1"/>
          <p:nvPr/>
        </p:nvSpPr>
        <p:spPr>
          <a:xfrm>
            <a:off x="8613756" y="4099490"/>
            <a:ext cx="7573012" cy="2385268"/>
          </a:xfrm>
          <a:prstGeom prst="rect">
            <a:avLst/>
          </a:prstGeom>
          <a:noFill/>
        </p:spPr>
        <p:txBody>
          <a:bodyPr wrap="square" rtlCol="0">
            <a:spAutoFit/>
          </a:bodyPr>
          <a:lstStyle/>
          <a:p>
            <a:pPr marL="285750" indent="-285750" algn="just">
              <a:spcBef>
                <a:spcPts val="50"/>
              </a:spcBef>
              <a:spcAft>
                <a:spcPts val="50"/>
              </a:spcAft>
              <a:buFont typeface="Wingdings" panose="05000000000000000000" pitchFamily="2" charset="2"/>
              <a:buChar char="Ø"/>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Disk capacity, benchmark scores, and use samples are real-world measures used in the study to compare the performance of SSDs and.</a:t>
            </a:r>
            <a:r>
              <a:rPr lang="en-US" altLang="en-US" b="1" dirty="0">
                <a:latin typeface="Times New Roman" panose="02020603050405020304" pitchFamily="18" charset="0"/>
                <a:cs typeface="Times New Roman" panose="02020603050405020304" pitchFamily="18" charset="0"/>
              </a:rPr>
              <a:t> HDDs.</a:t>
            </a:r>
          </a:p>
          <a:p>
            <a:pPr marL="285750" indent="-285750" algn="just">
              <a:spcBef>
                <a:spcPts val="50"/>
              </a:spcBef>
              <a:spcAft>
                <a:spcPts val="5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Multiple ML algorithms are compared to highlight how different models interpret the same dataset, revealing strengths and weaknesses.</a:t>
            </a:r>
          </a:p>
          <a:p>
            <a:pPr marL="285750" indent="-285750" algn="just">
              <a:spcBef>
                <a:spcPts val="50"/>
              </a:spcBef>
              <a:spcAft>
                <a:spcPts val="50"/>
              </a:spcAft>
              <a:buFont typeface="Wingdings" panose="05000000000000000000" pitchFamily="2" charset="2"/>
              <a:buChar char="Ø"/>
            </a:pPr>
            <a:r>
              <a:rPr lang="en-US" b="1" dirty="0">
                <a:solidFill>
                  <a:schemeClr val="tx1">
                    <a:lumMod val="95000"/>
                    <a:lumOff val="5000"/>
                  </a:schemeClr>
                </a:solidFill>
                <a:latin typeface="Times New Roman" panose="02020603050405020304" pitchFamily="18" charset="0"/>
                <a:cs typeface="Times New Roman" panose="02020603050405020304" pitchFamily="18" charset="0"/>
              </a:rPr>
              <a:t>Random Forest and XG Boosting are applied to classify drive types and measure predictive accuracy.</a:t>
            </a:r>
            <a:r>
              <a:rPr lang="en-US" b="1" dirty="0">
                <a:latin typeface="Times New Roman" panose="02020603050405020304" pitchFamily="18" charset="0"/>
                <a:cs typeface="Times New Roman" panose="02020603050405020304" pitchFamily="18" charset="0"/>
              </a:rPr>
              <a:t> </a:t>
            </a:r>
          </a:p>
          <a:p>
            <a:pPr marL="285750" indent="-285750" algn="just">
              <a:spcBef>
                <a:spcPts val="50"/>
              </a:spcBef>
              <a:spcAft>
                <a:spcPts val="5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system is adaptable, allowing users to tune parameters.</a:t>
            </a:r>
          </a:p>
        </p:txBody>
      </p:sp>
      <p:graphicFrame>
        <p:nvGraphicFramePr>
          <p:cNvPr id="12" name="Table 11">
            <a:extLst>
              <a:ext uri="{FF2B5EF4-FFF2-40B4-BE49-F238E27FC236}">
                <a16:creationId xmlns:a16="http://schemas.microsoft.com/office/drawing/2014/main" id="{D68B1DAB-EEC9-41DE-7966-C07F0071C458}"/>
              </a:ext>
            </a:extLst>
          </p:cNvPr>
          <p:cNvGraphicFramePr>
            <a:graphicFrameLocks noGrp="1"/>
          </p:cNvGraphicFramePr>
          <p:nvPr>
            <p:extLst>
              <p:ext uri="{D42A27DB-BD31-4B8C-83A1-F6EECF244321}">
                <p14:modId xmlns:p14="http://schemas.microsoft.com/office/powerpoint/2010/main" val="4056189794"/>
              </p:ext>
            </p:extLst>
          </p:nvPr>
        </p:nvGraphicFramePr>
        <p:xfrm>
          <a:off x="11867805" y="10066103"/>
          <a:ext cx="4315838" cy="2264290"/>
        </p:xfrm>
        <a:graphic>
          <a:graphicData uri="http://schemas.openxmlformats.org/drawingml/2006/table">
            <a:tbl>
              <a:tblPr firstRow="1" bandRow="1">
                <a:tableStyleId>{5940675A-B579-460E-94D1-54222C63F5DA}</a:tableStyleId>
              </a:tblPr>
              <a:tblGrid>
                <a:gridCol w="423516">
                  <a:extLst>
                    <a:ext uri="{9D8B030D-6E8A-4147-A177-3AD203B41FA5}">
                      <a16:colId xmlns:a16="http://schemas.microsoft.com/office/drawing/2014/main" val="353568870"/>
                    </a:ext>
                  </a:extLst>
                </a:gridCol>
                <a:gridCol w="953974">
                  <a:extLst>
                    <a:ext uri="{9D8B030D-6E8A-4147-A177-3AD203B41FA5}">
                      <a16:colId xmlns:a16="http://schemas.microsoft.com/office/drawing/2014/main" val="529427912"/>
                    </a:ext>
                  </a:extLst>
                </a:gridCol>
                <a:gridCol w="417363">
                  <a:extLst>
                    <a:ext uri="{9D8B030D-6E8A-4147-A177-3AD203B41FA5}">
                      <a16:colId xmlns:a16="http://schemas.microsoft.com/office/drawing/2014/main" val="775077070"/>
                    </a:ext>
                  </a:extLst>
                </a:gridCol>
                <a:gridCol w="772327">
                  <a:extLst>
                    <a:ext uri="{9D8B030D-6E8A-4147-A177-3AD203B41FA5}">
                      <a16:colId xmlns:a16="http://schemas.microsoft.com/office/drawing/2014/main" val="1326384847"/>
                    </a:ext>
                  </a:extLst>
                </a:gridCol>
                <a:gridCol w="801729">
                  <a:extLst>
                    <a:ext uri="{9D8B030D-6E8A-4147-A177-3AD203B41FA5}">
                      <a16:colId xmlns:a16="http://schemas.microsoft.com/office/drawing/2014/main" val="1528118843"/>
                    </a:ext>
                  </a:extLst>
                </a:gridCol>
                <a:gridCol w="946929">
                  <a:extLst>
                    <a:ext uri="{9D8B030D-6E8A-4147-A177-3AD203B41FA5}">
                      <a16:colId xmlns:a16="http://schemas.microsoft.com/office/drawing/2014/main" val="3202171590"/>
                    </a:ext>
                  </a:extLst>
                </a:gridCol>
              </a:tblGrid>
              <a:tr h="550042">
                <a:tc rowSpan="2">
                  <a:txBody>
                    <a:bodyPr/>
                    <a:lstStyle/>
                    <a:p>
                      <a:pPr algn="ctr"/>
                      <a:endParaRPr lang="en-IN" sz="1200" dirty="0">
                        <a:latin typeface="Times New Roman" panose="02020603050405020304" pitchFamily="18" charset="0"/>
                        <a:cs typeface="Times New Roman" panose="02020603050405020304" pitchFamily="18" charset="0"/>
                      </a:endParaRPr>
                    </a:p>
                  </a:txBody>
                  <a:tcPr anchor="ctr"/>
                </a:tc>
                <a:tc gridSpan="5">
                  <a:txBody>
                    <a:bodyPr/>
                    <a:lstStyle/>
                    <a:p>
                      <a:pPr algn="ctr"/>
                      <a:r>
                        <a:rPr lang="en-US" sz="1200" b="1" dirty="0">
                          <a:latin typeface="Times New Roman" panose="02020603050405020304" pitchFamily="18" charset="0"/>
                          <a:cs typeface="Times New Roman" panose="02020603050405020304" pitchFamily="18" charset="0"/>
                        </a:rPr>
                        <a:t>Group Statistics</a:t>
                      </a: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09620766"/>
                  </a:ext>
                </a:extLst>
              </a:tr>
              <a:tr h="615205">
                <a:tc vMerge="1">
                  <a:txBody>
                    <a:bodyPr/>
                    <a:lstStyle/>
                    <a:p>
                      <a:pPr algn="ct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Groups</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Mean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Std. Deviation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Std. Error</a:t>
                      </a:r>
                    </a:p>
                    <a:p>
                      <a:pPr algn="ctr"/>
                      <a:r>
                        <a:rPr lang="en-US" sz="1200" b="1" dirty="0">
                          <a:latin typeface="Times New Roman" panose="02020603050405020304" pitchFamily="18" charset="0"/>
                          <a:cs typeface="Times New Roman" panose="02020603050405020304" pitchFamily="18" charset="0"/>
                        </a:rPr>
                        <a:t>Mean</a:t>
                      </a:r>
                      <a:endParaRPr lang="en-IN" sz="1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016356"/>
                  </a:ext>
                </a:extLst>
              </a:tr>
              <a:tr h="537084">
                <a:tc rowSpan="2">
                  <a:txBody>
                    <a:bodyPr/>
                    <a:lstStyle/>
                    <a:p>
                      <a:pPr algn="ctr"/>
                      <a:r>
                        <a:rPr lang="en-US" sz="1600" b="1" dirty="0">
                          <a:latin typeface="Times New Roman" panose="02020603050405020304" pitchFamily="18" charset="0"/>
                          <a:cs typeface="Times New Roman" panose="02020603050405020304" pitchFamily="18" charset="0"/>
                        </a:rPr>
                        <a:t>Accuracy</a:t>
                      </a:r>
                      <a:endParaRPr lang="en-IN" sz="1600" b="1" dirty="0">
                        <a:latin typeface="Times New Roman" panose="02020603050405020304" pitchFamily="18" charset="0"/>
                        <a:cs typeface="Times New Roman" panose="02020603050405020304" pitchFamily="18" charset="0"/>
                      </a:endParaRPr>
                    </a:p>
                  </a:txBody>
                  <a:tcPr vert="vert270" anchor="ctr"/>
                </a:tc>
                <a:tc>
                  <a:txBody>
                    <a:bodyPr/>
                    <a:lstStyle/>
                    <a:p>
                      <a:pPr algn="ctr"/>
                      <a:r>
                        <a:rPr lang="en-US" sz="1200" b="1" dirty="0">
                          <a:latin typeface="Times New Roman" panose="02020603050405020304" pitchFamily="18" charset="0"/>
                          <a:cs typeface="Times New Roman" panose="02020603050405020304" pitchFamily="18" charset="0"/>
                        </a:rPr>
                        <a:t>R F</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latin typeface="Times New Roman" panose="02020603050405020304" pitchFamily="18" charset="0"/>
                          <a:cs typeface="Times New Roman" panose="02020603050405020304" pitchFamily="18" charset="0"/>
                        </a:rPr>
                        <a:t>98.1000</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73786</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23333</a:t>
                      </a:r>
                    </a:p>
                  </a:txBody>
                  <a:tcPr anchor="ctr"/>
                </a:tc>
                <a:extLst>
                  <a:ext uri="{0D108BD9-81ED-4DB2-BD59-A6C34878D82A}">
                    <a16:rowId xmlns:a16="http://schemas.microsoft.com/office/drawing/2014/main" val="2905873111"/>
                  </a:ext>
                </a:extLst>
              </a:tr>
              <a:tr h="537084">
                <a:tc vMerge="1">
                  <a:txBody>
                    <a:bodyPr/>
                    <a:lstStyle/>
                    <a:p>
                      <a:endParaRPr lang="en-IN" dirty="0"/>
                    </a:p>
                  </a:txBody>
                  <a:tcPr/>
                </a:tc>
                <a:tc>
                  <a:txBody>
                    <a:bodyPr/>
                    <a:lstStyle/>
                    <a:p>
                      <a:pPr algn="ctr"/>
                      <a:r>
                        <a:rPr lang="en-IN" sz="1200" b="1" dirty="0">
                          <a:effectLst/>
                          <a:latin typeface="Times New Roman" panose="02020603050405020304" pitchFamily="18" charset="0"/>
                          <a:cs typeface="Times New Roman" panose="02020603050405020304" pitchFamily="18" charset="0"/>
                        </a:rPr>
                        <a:t>XGBoost </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latin typeface="Times New Roman" panose="02020603050405020304" pitchFamily="18" charset="0"/>
                          <a:cs typeface="Times New Roman" panose="02020603050405020304" pitchFamily="18" charset="0"/>
                        </a:rPr>
                        <a:t>95.1000</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87560</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27689</a:t>
                      </a:r>
                    </a:p>
                  </a:txBody>
                  <a:tcPr anchor="ctr"/>
                </a:tc>
                <a:extLst>
                  <a:ext uri="{0D108BD9-81ED-4DB2-BD59-A6C34878D82A}">
                    <a16:rowId xmlns:a16="http://schemas.microsoft.com/office/drawing/2014/main" val="903425184"/>
                  </a:ext>
                </a:extLst>
              </a:tr>
            </a:tbl>
          </a:graphicData>
        </a:graphic>
      </p:graphicFrame>
      <p:sp>
        <p:nvSpPr>
          <p:cNvPr id="14" name="TextBox 13">
            <a:extLst>
              <a:ext uri="{FF2B5EF4-FFF2-40B4-BE49-F238E27FC236}">
                <a16:creationId xmlns:a16="http://schemas.microsoft.com/office/drawing/2014/main" id="{E7F929EF-C442-5D32-53AD-AF92CD9AF21A}"/>
              </a:ext>
            </a:extLst>
          </p:cNvPr>
          <p:cNvSpPr txBox="1"/>
          <p:nvPr/>
        </p:nvSpPr>
        <p:spPr>
          <a:xfrm>
            <a:off x="8613756" y="13009416"/>
            <a:ext cx="7488862" cy="1754326"/>
          </a:xfrm>
          <a:prstGeom prst="rect">
            <a:avLst/>
          </a:prstGeom>
          <a:noFill/>
        </p:spPr>
        <p:txBody>
          <a:bodyPr wrap="square" rtlCol="0">
            <a:spAutoFit/>
          </a:bodyPr>
          <a:lstStyle/>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Based on Independent T-test analysis, the difference in mean accuracy is P=0.001 statistically significant (p &lt; 0.05).</a:t>
            </a: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 conclusion, the study demonstrates that Random Forest outperforms the </a:t>
            </a:r>
            <a:r>
              <a:rPr lang="en-IN" b="1" dirty="0">
                <a:effectLst/>
                <a:latin typeface="Times New Roman" panose="02020603050405020304" pitchFamily="18" charset="0"/>
                <a:ea typeface="Calibri" panose="020F0502020204030204" pitchFamily="34" charset="0"/>
                <a:cs typeface="Times New Roman" panose="02020603050405020304" pitchFamily="18" charset="0"/>
              </a:rPr>
              <a:t>XGBoost </a:t>
            </a:r>
            <a:r>
              <a:rPr lang="en-US" b="1" dirty="0">
                <a:latin typeface="Times New Roman" panose="02020603050405020304" pitchFamily="18" charset="0"/>
                <a:cs typeface="Times New Roman" panose="02020603050405020304" pitchFamily="18" charset="0"/>
              </a:rPr>
              <a:t>algorithm for person detection in restricted zones.</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 Mean Value Accuracy of Random Forest is </a:t>
            </a:r>
            <a:r>
              <a:rPr lang="en-IN" b="1" dirty="0">
                <a:latin typeface="Times New Roman" panose="02020603050405020304" pitchFamily="18" charset="0"/>
                <a:cs typeface="Times New Roman" panose="02020603050405020304" pitchFamily="18" charset="0"/>
              </a:rPr>
              <a:t>98.1000</a:t>
            </a:r>
            <a:r>
              <a:rPr lang="en-US" b="1"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 Mean Value Accuracy of </a:t>
            </a:r>
            <a:r>
              <a:rPr lang="en-IN" b="1" dirty="0">
                <a:effectLst/>
                <a:latin typeface="Times New Roman" panose="02020603050405020304" pitchFamily="18" charset="0"/>
                <a:ea typeface="Calibri" panose="020F0502020204030204" pitchFamily="34" charset="0"/>
                <a:cs typeface="Times New Roman" panose="02020603050405020304" pitchFamily="18" charset="0"/>
              </a:rPr>
              <a:t>XG Boost</a:t>
            </a:r>
            <a:r>
              <a:rPr lang="en-US" b="1" dirty="0">
                <a:latin typeface="Times New Roman" panose="02020603050405020304" pitchFamily="18" charset="0"/>
                <a:cs typeface="Times New Roman" panose="02020603050405020304" pitchFamily="18" charset="0"/>
              </a:rPr>
              <a:t> is  </a:t>
            </a:r>
            <a:r>
              <a:rPr lang="en-IN" b="1" dirty="0">
                <a:latin typeface="Times New Roman" panose="02020603050405020304" pitchFamily="18" charset="0"/>
                <a:cs typeface="Times New Roman" panose="02020603050405020304" pitchFamily="18" charset="0"/>
              </a:rPr>
              <a:t>95.1000</a:t>
            </a:r>
            <a:r>
              <a:rPr lang="en-US" b="1" dirty="0">
                <a:latin typeface="Times New Roman" panose="02020603050405020304" pitchFamily="18" charset="0"/>
                <a:cs typeface="Times New Roman" panose="02020603050405020304" pitchFamily="18" charset="0"/>
              </a:rPr>
              <a:t>%</a:t>
            </a:r>
          </a:p>
        </p:txBody>
      </p:sp>
      <p:sp>
        <p:nvSpPr>
          <p:cNvPr id="17" name="TextBox 16">
            <a:extLst>
              <a:ext uri="{FF2B5EF4-FFF2-40B4-BE49-F238E27FC236}">
                <a16:creationId xmlns:a16="http://schemas.microsoft.com/office/drawing/2014/main" id="{67E1AA5F-71B3-CA48-2CB0-E20D6B3DE92B}"/>
              </a:ext>
            </a:extLst>
          </p:cNvPr>
          <p:cNvSpPr txBox="1"/>
          <p:nvPr/>
        </p:nvSpPr>
        <p:spPr>
          <a:xfrm>
            <a:off x="8592961" y="15526051"/>
            <a:ext cx="7444851" cy="2185214"/>
          </a:xfrm>
          <a:prstGeom prst="rect">
            <a:avLst/>
          </a:prstGeom>
          <a:noFill/>
        </p:spPr>
        <p:txBody>
          <a:bodyPr wrap="square" rtlCol="0">
            <a:spAutoFit/>
          </a:bodyPr>
          <a:lstStyle/>
          <a:p>
            <a:pPr marL="285750" indent="-285750" algn="just">
              <a:spcAft>
                <a:spcPts val="60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Cheng, Y., &amp; Gupta, R. (2023). </a:t>
            </a:r>
            <a:r>
              <a:rPr lang="en-US" b="1" i="1" dirty="0">
                <a:latin typeface="Times New Roman" panose="02020603050405020304" pitchFamily="18" charset="0"/>
                <a:cs typeface="Times New Roman" panose="02020603050405020304" pitchFamily="18" charset="0"/>
              </a:rPr>
              <a:t>Performance Prediction of Storage Devices Using Ensemble Learning Methods. IEEE Transactions on Computers, 72(4), 812–821.</a:t>
            </a:r>
          </a:p>
          <a:p>
            <a:pPr marL="285750" indent="-285750" algn="just">
              <a:spcAft>
                <a:spcPts val="60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Ramirez, D., &amp; Okafor, T. (2024</a:t>
            </a:r>
            <a:r>
              <a:rPr lang="en-US" b="1" i="1" dirty="0">
                <a:latin typeface="Times New Roman" panose="02020603050405020304" pitchFamily="18" charset="0"/>
                <a:cs typeface="Times New Roman" panose="02020603050405020304" pitchFamily="18" charset="0"/>
              </a:rPr>
              <a:t>). Comparing Classification Algorithms for Storage Device Identification Using Hardware Metrics. 229, 120685.</a:t>
            </a:r>
          </a:p>
          <a:p>
            <a:pPr marL="285750" indent="-285750" algn="just">
              <a:spcAft>
                <a:spcPts val="60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Google Research Team. (2025.</a:t>
            </a:r>
            <a:r>
              <a:rPr lang="en-US" b="1" i="1" dirty="0">
                <a:latin typeface="Times New Roman" panose="02020603050405020304" pitchFamily="18" charset="0"/>
                <a:cs typeface="Times New Roman" panose="02020603050405020304" pitchFamily="18" charset="0"/>
              </a:rPr>
              <a:t> ). Storage Performance Dataset: SSD and HDD Comparison Benchmarks. Google AI Blog</a:t>
            </a:r>
          </a:p>
        </p:txBody>
      </p:sp>
      <p:sp>
        <p:nvSpPr>
          <p:cNvPr id="21" name="TextBox 20">
            <a:extLst>
              <a:ext uri="{FF2B5EF4-FFF2-40B4-BE49-F238E27FC236}">
                <a16:creationId xmlns:a16="http://schemas.microsoft.com/office/drawing/2014/main" id="{7D0455D4-4350-305E-7CEE-6263D69841F2}"/>
              </a:ext>
            </a:extLst>
          </p:cNvPr>
          <p:cNvSpPr txBox="1"/>
          <p:nvPr/>
        </p:nvSpPr>
        <p:spPr>
          <a:xfrm>
            <a:off x="264815" y="19301989"/>
            <a:ext cx="7812385" cy="2359620"/>
          </a:xfrm>
          <a:prstGeom prst="rect">
            <a:avLst/>
          </a:prstGeom>
          <a:noFill/>
        </p:spPr>
        <p:txBody>
          <a:bodyPr wrap="square" rtlCol="0">
            <a:spAutoFit/>
          </a:bodyPr>
          <a:lstStyle/>
          <a:p>
            <a:pPr marL="285750" indent="-285750" algn="just">
              <a:spcBef>
                <a:spcPts val="50"/>
              </a:spcBef>
              <a:spcAft>
                <a:spcPts val="5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This study investigates the performance differences between SSDs and HDDs by analyzing real-world attributes like storage capacity, benchmark performance scores, and usage statistics.</a:t>
            </a:r>
          </a:p>
          <a:p>
            <a:pPr marL="285750" indent="-285750" algn="just">
              <a:spcBef>
                <a:spcPts val="50"/>
              </a:spcBef>
              <a:spcAft>
                <a:spcPts val="5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XGBoost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SVM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are applied to classify drive types and measure predictive accuracy.</a:t>
            </a:r>
          </a:p>
          <a:p>
            <a:pPr marL="285750" indent="-285750" algn="just">
              <a:spcBef>
                <a:spcPts val="50"/>
              </a:spcBef>
              <a:spcAft>
                <a:spcPts val="5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SSD are better for high I/O applications, SSDs work best in a hybrid configuration with HDDs. Compared to HDD, SSD has faster read/</a:t>
            </a:r>
            <a:r>
              <a:rPr lang="en-US" b="1" dirty="0" err="1">
                <a:latin typeface="Times New Roman" panose="02020603050405020304" pitchFamily="18" charset="0"/>
                <a:cs typeface="Times New Roman" panose="02020603050405020304" pitchFamily="18" charset="0"/>
              </a:rPr>
              <a:t>writes,supports</a:t>
            </a:r>
            <a:r>
              <a:rPr lang="en-US" b="1" dirty="0">
                <a:latin typeface="Times New Roman" panose="02020603050405020304" pitchFamily="18" charset="0"/>
                <a:cs typeface="Times New Roman" panose="02020603050405020304" pitchFamily="18" charset="0"/>
              </a:rPr>
              <a:t> more IOPs.</a:t>
            </a:r>
          </a:p>
        </p:txBody>
      </p:sp>
      <p:graphicFrame>
        <p:nvGraphicFramePr>
          <p:cNvPr id="26" name="Table 25">
            <a:extLst>
              <a:ext uri="{FF2B5EF4-FFF2-40B4-BE49-F238E27FC236}">
                <a16:creationId xmlns:a16="http://schemas.microsoft.com/office/drawing/2014/main" id="{7932C5EC-A171-15D0-EF3A-00F49AC8B50B}"/>
              </a:ext>
            </a:extLst>
          </p:cNvPr>
          <p:cNvGraphicFramePr>
            <a:graphicFrameLocks noGrp="1"/>
          </p:cNvGraphicFramePr>
          <p:nvPr>
            <p:extLst>
              <p:ext uri="{D42A27DB-BD31-4B8C-83A1-F6EECF244321}">
                <p14:modId xmlns:p14="http://schemas.microsoft.com/office/powerpoint/2010/main" val="1030267615"/>
              </p:ext>
            </p:extLst>
          </p:nvPr>
        </p:nvGraphicFramePr>
        <p:xfrm>
          <a:off x="3517803" y="25336656"/>
          <a:ext cx="4467957" cy="2071044"/>
        </p:xfrm>
        <a:graphic>
          <a:graphicData uri="http://schemas.openxmlformats.org/drawingml/2006/table">
            <a:tbl>
              <a:tblPr firstRow="1" bandRow="1">
                <a:tableStyleId>{5940675A-B579-460E-94D1-54222C63F5DA}</a:tableStyleId>
              </a:tblPr>
              <a:tblGrid>
                <a:gridCol w="426044">
                  <a:extLst>
                    <a:ext uri="{9D8B030D-6E8A-4147-A177-3AD203B41FA5}">
                      <a16:colId xmlns:a16="http://schemas.microsoft.com/office/drawing/2014/main" val="353568870"/>
                    </a:ext>
                  </a:extLst>
                </a:gridCol>
                <a:gridCol w="998343">
                  <a:extLst>
                    <a:ext uri="{9D8B030D-6E8A-4147-A177-3AD203B41FA5}">
                      <a16:colId xmlns:a16="http://schemas.microsoft.com/office/drawing/2014/main" val="529427912"/>
                    </a:ext>
                  </a:extLst>
                </a:gridCol>
                <a:gridCol w="405334">
                  <a:extLst>
                    <a:ext uri="{9D8B030D-6E8A-4147-A177-3AD203B41FA5}">
                      <a16:colId xmlns:a16="http://schemas.microsoft.com/office/drawing/2014/main" val="775077070"/>
                    </a:ext>
                  </a:extLst>
                </a:gridCol>
                <a:gridCol w="761237">
                  <a:extLst>
                    <a:ext uri="{9D8B030D-6E8A-4147-A177-3AD203B41FA5}">
                      <a16:colId xmlns:a16="http://schemas.microsoft.com/office/drawing/2014/main" val="1326384847"/>
                    </a:ext>
                  </a:extLst>
                </a:gridCol>
                <a:gridCol w="886029">
                  <a:extLst>
                    <a:ext uri="{9D8B030D-6E8A-4147-A177-3AD203B41FA5}">
                      <a16:colId xmlns:a16="http://schemas.microsoft.com/office/drawing/2014/main" val="1528118843"/>
                    </a:ext>
                  </a:extLst>
                </a:gridCol>
                <a:gridCol w="990970">
                  <a:extLst>
                    <a:ext uri="{9D8B030D-6E8A-4147-A177-3AD203B41FA5}">
                      <a16:colId xmlns:a16="http://schemas.microsoft.com/office/drawing/2014/main" val="3202171590"/>
                    </a:ext>
                  </a:extLst>
                </a:gridCol>
              </a:tblGrid>
              <a:tr h="517761">
                <a:tc rowSpan="2">
                  <a:txBody>
                    <a:bodyPr/>
                    <a:lstStyle/>
                    <a:p>
                      <a:pPr algn="ctr"/>
                      <a:endParaRPr lang="en-IN" sz="1200" dirty="0">
                        <a:latin typeface="Times New Roman" panose="02020603050405020304" pitchFamily="18" charset="0"/>
                        <a:cs typeface="Times New Roman" panose="02020603050405020304" pitchFamily="18" charset="0"/>
                      </a:endParaRPr>
                    </a:p>
                  </a:txBody>
                  <a:tcPr anchor="ctr"/>
                </a:tc>
                <a:tc gridSpan="5">
                  <a:txBody>
                    <a:bodyPr/>
                    <a:lstStyle/>
                    <a:p>
                      <a:pPr algn="ctr"/>
                      <a:r>
                        <a:rPr lang="en-US" sz="1200" b="1" dirty="0">
                          <a:latin typeface="Times New Roman" panose="02020603050405020304" pitchFamily="18" charset="0"/>
                          <a:cs typeface="Times New Roman" panose="02020603050405020304" pitchFamily="18" charset="0"/>
                        </a:rPr>
                        <a:t>Group Statistics</a:t>
                      </a: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14356273"/>
                  </a:ext>
                </a:extLst>
              </a:tr>
              <a:tr h="517761">
                <a:tc vMerge="1">
                  <a:txBody>
                    <a:bodyPr/>
                    <a:lstStyle/>
                    <a:p>
                      <a:pPr algn="ct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Groups</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Mean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Std. Deviation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Std. Error</a:t>
                      </a:r>
                    </a:p>
                    <a:p>
                      <a:pPr algn="ctr"/>
                      <a:r>
                        <a:rPr lang="en-US" sz="1200" b="1" dirty="0">
                          <a:latin typeface="Times New Roman" panose="02020603050405020304" pitchFamily="18" charset="0"/>
                          <a:cs typeface="Times New Roman" panose="02020603050405020304" pitchFamily="18" charset="0"/>
                        </a:rPr>
                        <a:t>Mean</a:t>
                      </a:r>
                      <a:endParaRPr lang="en-IN" sz="1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016356"/>
                  </a:ext>
                </a:extLst>
              </a:tr>
              <a:tr h="517761">
                <a:tc rowSpan="2">
                  <a:txBody>
                    <a:bodyPr/>
                    <a:lstStyle/>
                    <a:p>
                      <a:pPr algn="ctr"/>
                      <a:r>
                        <a:rPr lang="en-US" sz="1600" b="1" dirty="0">
                          <a:latin typeface="Times New Roman" panose="02020603050405020304" pitchFamily="18" charset="0"/>
                          <a:cs typeface="Times New Roman" panose="02020603050405020304" pitchFamily="18" charset="0"/>
                        </a:rPr>
                        <a:t>Accuracy</a:t>
                      </a:r>
                      <a:endParaRPr lang="en-IN" sz="1600" b="1" dirty="0">
                        <a:latin typeface="Times New Roman" panose="02020603050405020304" pitchFamily="18" charset="0"/>
                        <a:cs typeface="Times New Roman" panose="02020603050405020304" pitchFamily="18" charset="0"/>
                      </a:endParaRPr>
                    </a:p>
                  </a:txBody>
                  <a:tcPr vert="vert270" anchor="ctr"/>
                </a:tc>
                <a:tc>
                  <a:txBody>
                    <a:bodyPr/>
                    <a:lstStyle/>
                    <a:p>
                      <a:pPr algn="ctr"/>
                      <a:r>
                        <a:rPr lang="en-US" sz="1200" b="1" dirty="0">
                          <a:latin typeface="Times New Roman" panose="02020603050405020304" pitchFamily="18" charset="0"/>
                          <a:cs typeface="Times New Roman" panose="02020603050405020304" pitchFamily="18" charset="0"/>
                        </a:rPr>
                        <a:t>XGBoost</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latin typeface="Times New Roman" panose="02020603050405020304" pitchFamily="18" charset="0"/>
                          <a:cs typeface="Times New Roman" panose="02020603050405020304" pitchFamily="18" charset="0"/>
                        </a:rPr>
                        <a:t>96.0000</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66667</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21082</a:t>
                      </a:r>
                    </a:p>
                  </a:txBody>
                  <a:tcPr anchor="ctr"/>
                </a:tc>
                <a:extLst>
                  <a:ext uri="{0D108BD9-81ED-4DB2-BD59-A6C34878D82A}">
                    <a16:rowId xmlns:a16="http://schemas.microsoft.com/office/drawing/2014/main" val="2905873111"/>
                  </a:ext>
                </a:extLst>
              </a:tr>
              <a:tr h="517761">
                <a:tc vMerge="1">
                  <a:txBody>
                    <a:bodyPr/>
                    <a:lstStyle/>
                    <a:p>
                      <a:endParaRPr lang="en-IN" dirty="0"/>
                    </a:p>
                  </a:txBody>
                  <a:tcPr/>
                </a:tc>
                <a:tc>
                  <a:txBody>
                    <a:bodyPr/>
                    <a:lstStyle/>
                    <a:p>
                      <a:pPr algn="ctr"/>
                      <a:r>
                        <a:rPr lang="en-US" sz="1200" b="1" dirty="0">
                          <a:latin typeface="Times New Roman" panose="02020603050405020304" pitchFamily="18" charset="0"/>
                          <a:cs typeface="Times New Roman" panose="02020603050405020304" pitchFamily="18" charset="0"/>
                        </a:rPr>
                        <a:t>SVM</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latin typeface="Times New Roman" panose="02020603050405020304" pitchFamily="18" charset="0"/>
                          <a:cs typeface="Times New Roman" panose="02020603050405020304" pitchFamily="18" charset="0"/>
                        </a:rPr>
                        <a:t>68.1000</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73786</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23333</a:t>
                      </a:r>
                    </a:p>
                  </a:txBody>
                  <a:tcPr anchor="ctr"/>
                </a:tc>
                <a:extLst>
                  <a:ext uri="{0D108BD9-81ED-4DB2-BD59-A6C34878D82A}">
                    <a16:rowId xmlns:a16="http://schemas.microsoft.com/office/drawing/2014/main" val="903425184"/>
                  </a:ext>
                </a:extLst>
              </a:tr>
            </a:tbl>
          </a:graphicData>
        </a:graphic>
      </p:graphicFrame>
      <p:sp>
        <p:nvSpPr>
          <p:cNvPr id="36" name="TextBox 35">
            <a:extLst>
              <a:ext uri="{FF2B5EF4-FFF2-40B4-BE49-F238E27FC236}">
                <a16:creationId xmlns:a16="http://schemas.microsoft.com/office/drawing/2014/main" id="{34DC8CD4-35D5-186D-6348-7E89778E0AAA}"/>
              </a:ext>
            </a:extLst>
          </p:cNvPr>
          <p:cNvSpPr txBox="1"/>
          <p:nvPr/>
        </p:nvSpPr>
        <p:spPr>
          <a:xfrm>
            <a:off x="374075" y="28189415"/>
            <a:ext cx="7703125" cy="1754326"/>
          </a:xfrm>
          <a:prstGeom prst="rect">
            <a:avLst/>
          </a:prstGeom>
          <a:noFill/>
        </p:spPr>
        <p:txBody>
          <a:bodyPr wrap="square" rtlCol="0">
            <a:spAutoFit/>
          </a:bodyPr>
          <a:lstStyle/>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Based on Independent T-test analysis, the difference in mean accuracy is P=0.001 statistically significant (p &lt; 0.05).</a:t>
            </a: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 conclusion, the study demonstrates that XG Boost outperforms the SVM algorithm for person detection in restricted zones.</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 Mean Value Accuracy of  XG Boost is  93.19%</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 Mean Value Accuracy of SVM is 82.16%</a:t>
            </a:r>
          </a:p>
        </p:txBody>
      </p:sp>
      <p:sp>
        <p:nvSpPr>
          <p:cNvPr id="37" name="TextBox 36">
            <a:extLst>
              <a:ext uri="{FF2B5EF4-FFF2-40B4-BE49-F238E27FC236}">
                <a16:creationId xmlns:a16="http://schemas.microsoft.com/office/drawing/2014/main" id="{EF60A169-A424-3203-A4E3-1FBC746D9AFE}"/>
              </a:ext>
            </a:extLst>
          </p:cNvPr>
          <p:cNvSpPr txBox="1"/>
          <p:nvPr/>
        </p:nvSpPr>
        <p:spPr>
          <a:xfrm>
            <a:off x="374075" y="30639316"/>
            <a:ext cx="7703125" cy="2185214"/>
          </a:xfrm>
          <a:prstGeom prst="rect">
            <a:avLst/>
          </a:prstGeom>
          <a:noFill/>
        </p:spPr>
        <p:txBody>
          <a:bodyPr wrap="square" rtlCol="0">
            <a:spAutoFit/>
          </a:bodyPr>
          <a:lstStyle/>
          <a:p>
            <a:pPr marL="285750" indent="-285750" algn="just">
              <a:spcAft>
                <a:spcPts val="60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Fernandez, M., &amp; Zhou, Y. (2023</a:t>
            </a:r>
            <a:r>
              <a:rPr lang="en-US" b="1" i="1" dirty="0">
                <a:latin typeface="Times New Roman" panose="02020603050405020304" pitchFamily="18" charset="0"/>
                <a:cs typeface="Times New Roman" panose="02020603050405020304" pitchFamily="18" charset="0"/>
              </a:rPr>
              <a:t>). Optimizing Storage Decisions Using Machine Learning-Based Classification of SSD and HDD Devices. ACM Journal on Emerging Technologies in Computing Systems, </a:t>
            </a:r>
            <a:r>
              <a:rPr lang="en-US" b="1" dirty="0">
                <a:latin typeface="Times New Roman" panose="02020603050405020304" pitchFamily="18" charset="0"/>
                <a:cs typeface="Times New Roman" panose="02020603050405020304" pitchFamily="18" charset="0"/>
              </a:rPr>
              <a:t>18(3), </a:t>
            </a:r>
          </a:p>
          <a:p>
            <a:pPr marL="285750" indent="-285750" algn="just">
              <a:spcAft>
                <a:spcPts val="60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Google Research Team. (2025</a:t>
            </a:r>
            <a:r>
              <a:rPr lang="en-US" b="1" i="1" dirty="0">
                <a:latin typeface="Times New Roman" panose="02020603050405020304" pitchFamily="18" charset="0"/>
                <a:cs typeface="Times New Roman" panose="02020603050405020304" pitchFamily="18" charset="0"/>
              </a:rPr>
              <a:t>). Storage Performance Dataset: SSD and HDD Comparison Benchmarks. Google AI Blog.</a:t>
            </a:r>
          </a:p>
          <a:p>
            <a:pPr marL="285750" indent="-285750" algn="just">
              <a:spcAft>
                <a:spcPts val="60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Lee, J., &amp; Park, K. (2024). </a:t>
            </a:r>
            <a:r>
              <a:rPr lang="en-US" b="1" i="1" dirty="0">
                <a:latin typeface="Times New Roman" panose="02020603050405020304" pitchFamily="18" charset="0"/>
                <a:cs typeface="Times New Roman" panose="02020603050405020304" pitchFamily="18" charset="0"/>
              </a:rPr>
              <a:t>A Study on SSD and HDD Performance Trade-offs in Hybrid Storage Systems, 131, 102876</a:t>
            </a:r>
            <a:r>
              <a:rPr lang="en-US" b="1" dirty="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D191BD46-E648-67E7-1AB8-28C51CD55668}"/>
              </a:ext>
            </a:extLst>
          </p:cNvPr>
          <p:cNvSpPr txBox="1"/>
          <p:nvPr/>
        </p:nvSpPr>
        <p:spPr>
          <a:xfrm>
            <a:off x="8673986" y="19328065"/>
            <a:ext cx="7509657" cy="2359620"/>
          </a:xfrm>
          <a:prstGeom prst="rect">
            <a:avLst/>
          </a:prstGeom>
          <a:noFill/>
        </p:spPr>
        <p:txBody>
          <a:bodyPr wrap="square" rtlCol="0">
            <a:spAutoFit/>
          </a:bodyPr>
          <a:lstStyle/>
          <a:p>
            <a:pPr marL="285750" indent="-285750" algn="just">
              <a:spcBef>
                <a:spcPts val="50"/>
              </a:spcBef>
              <a:spcAft>
                <a:spcPts val="5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core goal is to examine the functional trade-offs of SSDs and HDDs and determine the most accurate algorithm for making data-driven storage decisions.</a:t>
            </a:r>
          </a:p>
          <a:p>
            <a:pPr marL="285750" indent="-285750" algn="just">
              <a:spcBef>
                <a:spcPts val="50"/>
              </a:spcBef>
              <a:spcAft>
                <a:spcPts val="5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Multiple ML algorithms are compared to highlight how different models interpret the same dataset, revealing strengths and weaknesses.</a:t>
            </a:r>
          </a:p>
          <a:p>
            <a:pPr marL="285750" indent="-285750" algn="just">
              <a:spcBef>
                <a:spcPts val="50"/>
              </a:spcBef>
              <a:spcAft>
                <a:spcPts val="5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It all depends on specific requirement. The comparison in between SSD and HDD is just to put out the pros and cons. But in my study view, SSDs is better than HDD.</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aphicFrame>
        <p:nvGraphicFramePr>
          <p:cNvPr id="39" name="Table 38">
            <a:extLst>
              <a:ext uri="{FF2B5EF4-FFF2-40B4-BE49-F238E27FC236}">
                <a16:creationId xmlns:a16="http://schemas.microsoft.com/office/drawing/2014/main" id="{B6B9232C-E876-279E-9C26-256C04B3B7C4}"/>
              </a:ext>
            </a:extLst>
          </p:cNvPr>
          <p:cNvGraphicFramePr>
            <a:graphicFrameLocks noGrp="1"/>
          </p:cNvGraphicFramePr>
          <p:nvPr>
            <p:extLst>
              <p:ext uri="{D42A27DB-BD31-4B8C-83A1-F6EECF244321}">
                <p14:modId xmlns:p14="http://schemas.microsoft.com/office/powerpoint/2010/main" val="3468273108"/>
              </p:ext>
            </p:extLst>
          </p:nvPr>
        </p:nvGraphicFramePr>
        <p:xfrm>
          <a:off x="11773821" y="25241118"/>
          <a:ext cx="4409822" cy="2124176"/>
        </p:xfrm>
        <a:graphic>
          <a:graphicData uri="http://schemas.openxmlformats.org/drawingml/2006/table">
            <a:tbl>
              <a:tblPr firstRow="1" bandRow="1">
                <a:tableStyleId>{5940675A-B579-460E-94D1-54222C63F5DA}</a:tableStyleId>
              </a:tblPr>
              <a:tblGrid>
                <a:gridCol w="424712">
                  <a:extLst>
                    <a:ext uri="{9D8B030D-6E8A-4147-A177-3AD203B41FA5}">
                      <a16:colId xmlns:a16="http://schemas.microsoft.com/office/drawing/2014/main" val="353568870"/>
                    </a:ext>
                  </a:extLst>
                </a:gridCol>
                <a:gridCol w="785608">
                  <a:extLst>
                    <a:ext uri="{9D8B030D-6E8A-4147-A177-3AD203B41FA5}">
                      <a16:colId xmlns:a16="http://schemas.microsoft.com/office/drawing/2014/main" val="529427912"/>
                    </a:ext>
                  </a:extLst>
                </a:gridCol>
                <a:gridCol w="671406">
                  <a:extLst>
                    <a:ext uri="{9D8B030D-6E8A-4147-A177-3AD203B41FA5}">
                      <a16:colId xmlns:a16="http://schemas.microsoft.com/office/drawing/2014/main" val="775077070"/>
                    </a:ext>
                  </a:extLst>
                </a:gridCol>
                <a:gridCol w="729457">
                  <a:extLst>
                    <a:ext uri="{9D8B030D-6E8A-4147-A177-3AD203B41FA5}">
                      <a16:colId xmlns:a16="http://schemas.microsoft.com/office/drawing/2014/main" val="1326384847"/>
                    </a:ext>
                  </a:extLst>
                </a:gridCol>
                <a:gridCol w="849039">
                  <a:extLst>
                    <a:ext uri="{9D8B030D-6E8A-4147-A177-3AD203B41FA5}">
                      <a16:colId xmlns:a16="http://schemas.microsoft.com/office/drawing/2014/main" val="1528118843"/>
                    </a:ext>
                  </a:extLst>
                </a:gridCol>
                <a:gridCol w="949600">
                  <a:extLst>
                    <a:ext uri="{9D8B030D-6E8A-4147-A177-3AD203B41FA5}">
                      <a16:colId xmlns:a16="http://schemas.microsoft.com/office/drawing/2014/main" val="3202171590"/>
                    </a:ext>
                  </a:extLst>
                </a:gridCol>
              </a:tblGrid>
              <a:tr h="531044">
                <a:tc rowSpan="2">
                  <a:txBody>
                    <a:bodyPr/>
                    <a:lstStyle/>
                    <a:p>
                      <a:pPr algn="ctr"/>
                      <a:endParaRPr lang="en-IN" sz="1200" dirty="0">
                        <a:latin typeface="Times New Roman" panose="02020603050405020304" pitchFamily="18" charset="0"/>
                        <a:cs typeface="Times New Roman" panose="02020603050405020304" pitchFamily="18" charset="0"/>
                      </a:endParaRPr>
                    </a:p>
                  </a:txBody>
                  <a:tcPr anchor="ctr"/>
                </a:tc>
                <a:tc gridSpan="5">
                  <a:txBody>
                    <a:bodyPr/>
                    <a:lstStyle/>
                    <a:p>
                      <a:pPr algn="ctr"/>
                      <a:r>
                        <a:rPr lang="en-US" sz="1200" b="1" dirty="0">
                          <a:latin typeface="Times New Roman" panose="02020603050405020304" pitchFamily="18" charset="0"/>
                          <a:cs typeface="Times New Roman" panose="02020603050405020304" pitchFamily="18" charset="0"/>
                        </a:rPr>
                        <a:t>Group Statistics</a:t>
                      </a: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IN" sz="1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7099879"/>
                  </a:ext>
                </a:extLst>
              </a:tr>
              <a:tr h="531044">
                <a:tc vMerge="1">
                  <a:txBody>
                    <a:bodyPr/>
                    <a:lstStyle/>
                    <a:p>
                      <a:pPr algn="ct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Groups</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Mean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Std. Deviation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Std. Error</a:t>
                      </a:r>
                    </a:p>
                    <a:p>
                      <a:pPr algn="ctr"/>
                      <a:r>
                        <a:rPr lang="en-US" sz="1200" b="1" dirty="0">
                          <a:latin typeface="Times New Roman" panose="02020603050405020304" pitchFamily="18" charset="0"/>
                          <a:cs typeface="Times New Roman" panose="02020603050405020304" pitchFamily="18" charset="0"/>
                        </a:rPr>
                        <a:t>Mean</a:t>
                      </a:r>
                      <a:endParaRPr lang="en-IN" sz="12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016356"/>
                  </a:ext>
                </a:extLst>
              </a:tr>
              <a:tr h="531044">
                <a:tc rowSpan="2">
                  <a:txBody>
                    <a:bodyPr/>
                    <a:lstStyle/>
                    <a:p>
                      <a:pPr algn="ctr"/>
                      <a:r>
                        <a:rPr lang="en-US" sz="1600" b="1" dirty="0">
                          <a:latin typeface="Times New Roman" panose="02020603050405020304" pitchFamily="18" charset="0"/>
                          <a:cs typeface="Times New Roman" panose="02020603050405020304" pitchFamily="18" charset="0"/>
                        </a:rPr>
                        <a:t>Accuracy</a:t>
                      </a:r>
                      <a:endParaRPr lang="en-IN" sz="1600" b="1" dirty="0">
                        <a:latin typeface="Times New Roman" panose="02020603050405020304" pitchFamily="18" charset="0"/>
                        <a:cs typeface="Times New Roman" panose="02020603050405020304" pitchFamily="18" charset="0"/>
                      </a:endParaRPr>
                    </a:p>
                  </a:txBody>
                  <a:tcPr vert="vert270" anchor="ctr"/>
                </a:tc>
                <a:tc>
                  <a:txBody>
                    <a:bodyPr/>
                    <a:lstStyle/>
                    <a:p>
                      <a:pPr algn="ctr"/>
                      <a:r>
                        <a:rPr lang="en-US" sz="1200" b="1" dirty="0">
                          <a:latin typeface="Times New Roman" panose="02020603050405020304" pitchFamily="18" charset="0"/>
                          <a:cs typeface="Times New Roman" panose="02020603050405020304" pitchFamily="18" charset="0"/>
                        </a:rPr>
                        <a:t>SVM</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latin typeface="Times New Roman" panose="02020603050405020304" pitchFamily="18" charset="0"/>
                          <a:cs typeface="Times New Roman" panose="02020603050405020304" pitchFamily="18" charset="0"/>
                        </a:rPr>
                        <a:t>68.1000</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73786</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23333</a:t>
                      </a:r>
                    </a:p>
                  </a:txBody>
                  <a:tcPr anchor="ctr"/>
                </a:tc>
                <a:extLst>
                  <a:ext uri="{0D108BD9-81ED-4DB2-BD59-A6C34878D82A}">
                    <a16:rowId xmlns:a16="http://schemas.microsoft.com/office/drawing/2014/main" val="2905873111"/>
                  </a:ext>
                </a:extLst>
              </a:tr>
              <a:tr h="531044">
                <a:tc vMerge="1">
                  <a:txBody>
                    <a:bodyPr/>
                    <a:lstStyle/>
                    <a:p>
                      <a:endParaRPr lang="en-IN" dirty="0"/>
                    </a:p>
                  </a:txBody>
                  <a:tcPr/>
                </a:tc>
                <a:tc>
                  <a:txBody>
                    <a:bodyPr/>
                    <a:lstStyle/>
                    <a:p>
                      <a:pPr algn="ctr"/>
                      <a:r>
                        <a:rPr lang="en-US" sz="1200" b="1" dirty="0">
                          <a:latin typeface="Times New Roman" panose="02020603050405020304" pitchFamily="18" charset="0"/>
                          <a:cs typeface="Times New Roman" panose="02020603050405020304" pitchFamily="18" charset="0"/>
                        </a:rPr>
                        <a:t>ANN</a:t>
                      </a:r>
                      <a:endParaRPr lang="en-IN"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latin typeface="Times New Roman" panose="02020603050405020304" pitchFamily="18" charset="0"/>
                          <a:cs typeface="Times New Roman" panose="02020603050405020304" pitchFamily="18" charset="0"/>
                        </a:rPr>
                        <a:t>97.0000</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66667</a:t>
                      </a:r>
                    </a:p>
                  </a:txBody>
                  <a:tcPr anchor="ctr"/>
                </a:tc>
                <a:tc>
                  <a:txBody>
                    <a:bodyPr/>
                    <a:lstStyle/>
                    <a:p>
                      <a:pPr algn="ct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21082</a:t>
                      </a:r>
                    </a:p>
                  </a:txBody>
                  <a:tcPr anchor="ctr"/>
                </a:tc>
                <a:extLst>
                  <a:ext uri="{0D108BD9-81ED-4DB2-BD59-A6C34878D82A}">
                    <a16:rowId xmlns:a16="http://schemas.microsoft.com/office/drawing/2014/main" val="903425184"/>
                  </a:ext>
                </a:extLst>
              </a:tr>
            </a:tbl>
          </a:graphicData>
        </a:graphic>
      </p:graphicFrame>
      <p:sp>
        <p:nvSpPr>
          <p:cNvPr id="48" name="TextBox 47">
            <a:extLst>
              <a:ext uri="{FF2B5EF4-FFF2-40B4-BE49-F238E27FC236}">
                <a16:creationId xmlns:a16="http://schemas.microsoft.com/office/drawing/2014/main" id="{B5A1F23C-A908-64B9-9731-F8972076831C}"/>
              </a:ext>
            </a:extLst>
          </p:cNvPr>
          <p:cNvSpPr txBox="1"/>
          <p:nvPr/>
        </p:nvSpPr>
        <p:spPr>
          <a:xfrm>
            <a:off x="8673986" y="28200137"/>
            <a:ext cx="7562481" cy="1754326"/>
          </a:xfrm>
          <a:prstGeom prst="rect">
            <a:avLst/>
          </a:prstGeom>
          <a:noFill/>
        </p:spPr>
        <p:txBody>
          <a:bodyPr wrap="square" rtlCol="0">
            <a:spAutoFit/>
          </a:bodyPr>
          <a:lstStyle/>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Based on Independent T-test analysis, the difference in mean accuracy is P=0.001 statistically significant (p &lt; 0.05).</a:t>
            </a:r>
          </a:p>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 conclusion, the study demonstrates that SVM outperforms the ANN algorithm for person detection in restricted zones.</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 Mean Value Accuracy of SVM is  93.19%</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 Mean Value Accuracy of ANN is  63.19%</a:t>
            </a:r>
          </a:p>
        </p:txBody>
      </p:sp>
      <p:sp>
        <p:nvSpPr>
          <p:cNvPr id="49" name="TextBox 48">
            <a:extLst>
              <a:ext uri="{FF2B5EF4-FFF2-40B4-BE49-F238E27FC236}">
                <a16:creationId xmlns:a16="http://schemas.microsoft.com/office/drawing/2014/main" id="{0FE034E0-9129-9B10-132B-C07AC95CDE79}"/>
              </a:ext>
            </a:extLst>
          </p:cNvPr>
          <p:cNvSpPr txBox="1"/>
          <p:nvPr/>
        </p:nvSpPr>
        <p:spPr>
          <a:xfrm>
            <a:off x="8673986" y="30555350"/>
            <a:ext cx="7509657" cy="2185214"/>
          </a:xfrm>
          <a:prstGeom prst="rect">
            <a:avLst/>
          </a:prstGeom>
          <a:noFill/>
        </p:spPr>
        <p:txBody>
          <a:bodyPr wrap="square" rtlCol="0">
            <a:spAutoFit/>
          </a:bodyPr>
          <a:lstStyle/>
          <a:p>
            <a:pPr marL="285750" indent="-285750" algn="just">
              <a:spcAft>
                <a:spcPts val="60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Patel, R., &amp; Thomas, L. (2023). </a:t>
            </a:r>
            <a:r>
              <a:rPr lang="en-US" b="1" i="1" dirty="0">
                <a:latin typeface="Times New Roman" panose="02020603050405020304" pitchFamily="18" charset="0"/>
                <a:cs typeface="Times New Roman" panose="02020603050405020304" pitchFamily="18" charset="0"/>
              </a:rPr>
              <a:t>Comparative Analysis of SSD vs HDD Using benchmark tools and ML Techniques,</a:t>
            </a:r>
            <a:r>
              <a:rPr lang="en-US" b="1" dirty="0">
                <a:latin typeface="Times New Roman" panose="02020603050405020304" pitchFamily="18" charset="0"/>
                <a:cs typeface="Times New Roman" panose="02020603050405020304" pitchFamily="18" charset="0"/>
              </a:rPr>
              <a:t> 184(12), 25–31</a:t>
            </a:r>
          </a:p>
          <a:p>
            <a:pPr marL="285750" indent="-285750" algn="just">
              <a:spcAft>
                <a:spcPts val="60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Bhattacharya, D., &amp; Rawat, A. (2024). </a:t>
            </a:r>
            <a:r>
              <a:rPr lang="en-US" b="1" i="1" dirty="0">
                <a:latin typeface="Times New Roman" panose="02020603050405020304" pitchFamily="18" charset="0"/>
                <a:cs typeface="Times New Roman" panose="02020603050405020304" pitchFamily="18" charset="0"/>
              </a:rPr>
              <a:t>Evaluating SSD Reliability Under Varying Workloads: A Statistical Perspective. Proceedings of the IEEE International Conference on Data Engineering </a:t>
            </a:r>
            <a:r>
              <a:rPr lang="en-US" b="1" dirty="0">
                <a:latin typeface="Times New Roman" panose="02020603050405020304" pitchFamily="18" charset="0"/>
                <a:cs typeface="Times New Roman" panose="02020603050405020304" pitchFamily="18" charset="0"/>
              </a:rPr>
              <a:t>(</a:t>
            </a:r>
            <a:r>
              <a:rPr lang="en-US" b="1" i="1" dirty="0">
                <a:latin typeface="Times New Roman" panose="02020603050405020304" pitchFamily="18" charset="0"/>
                <a:cs typeface="Times New Roman" panose="02020603050405020304" pitchFamily="18" charset="0"/>
              </a:rPr>
              <a:t>ICDE), </a:t>
            </a:r>
            <a:r>
              <a:rPr lang="en-US" b="1" dirty="0">
                <a:latin typeface="Times New Roman" panose="02020603050405020304" pitchFamily="18" charset="0"/>
                <a:cs typeface="Times New Roman" panose="02020603050405020304" pitchFamily="18" charset="0"/>
              </a:rPr>
              <a:t>101–110.</a:t>
            </a:r>
          </a:p>
          <a:p>
            <a:pPr marL="285750" indent="-285750" algn="just">
              <a:spcAft>
                <a:spcPts val="60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OpenBenchmarking.org Dataset (2025). </a:t>
            </a:r>
            <a:r>
              <a:rPr lang="en-US" b="1" i="1" dirty="0">
                <a:latin typeface="Times New Roman" panose="02020603050405020304" pitchFamily="18" charset="0"/>
                <a:cs typeface="Times New Roman" panose="02020603050405020304" pitchFamily="18" charset="0"/>
              </a:rPr>
              <a:t>Phoronix Test Suite: Storage Performance Test Results for SSDs and HDDs.</a:t>
            </a:r>
            <a:endParaRPr lang="en-IN" b="1" i="1" dirty="0">
              <a:latin typeface="Times New Roman" panose="02020603050405020304" pitchFamily="18" charset="0"/>
              <a:cs typeface="Times New Roman" panose="02020603050405020304" pitchFamily="18" charset="0"/>
            </a:endParaRPr>
          </a:p>
        </p:txBody>
      </p:sp>
      <p:sp>
        <p:nvSpPr>
          <p:cNvPr id="95" name="AutoShape 6" descr="Flow chart of XGBoost algorithm prediction model training. | Download  Scientific Diagram">
            <a:extLst>
              <a:ext uri="{FF2B5EF4-FFF2-40B4-BE49-F238E27FC236}">
                <a16:creationId xmlns:a16="http://schemas.microsoft.com/office/drawing/2014/main" id="{9BAF4525-BA1A-5173-70F6-530CC349267D}"/>
              </a:ext>
            </a:extLst>
          </p:cNvPr>
          <p:cNvSpPr>
            <a:spLocks noChangeAspect="1" noChangeArrowheads="1"/>
          </p:cNvSpPr>
          <p:nvPr/>
        </p:nvSpPr>
        <p:spPr bwMode="auto">
          <a:xfrm>
            <a:off x="8077200" y="1630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03D01B92-9A7B-0221-0AE9-52AFA740360C}"/>
              </a:ext>
            </a:extLst>
          </p:cNvPr>
          <p:cNvSpPr/>
          <p:nvPr/>
        </p:nvSpPr>
        <p:spPr>
          <a:xfrm>
            <a:off x="414003" y="7792528"/>
            <a:ext cx="1692402" cy="867950"/>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Dataset</a:t>
            </a:r>
          </a:p>
          <a:p>
            <a:pPr algn="ctr"/>
            <a:r>
              <a:rPr lang="en-US" b="1" dirty="0">
                <a:solidFill>
                  <a:schemeClr val="tx1"/>
                </a:solidFill>
                <a:latin typeface="Times New Roman" panose="02020603050405020304" pitchFamily="18" charset="0"/>
                <a:cs typeface="Times New Roman" panose="02020603050405020304" pitchFamily="18" charset="0"/>
              </a:rPr>
              <a:t>(SSD &amp; HDD)</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EB3319B-2999-4EC4-7C55-9A39C9D4B312}"/>
              </a:ext>
            </a:extLst>
          </p:cNvPr>
          <p:cNvSpPr/>
          <p:nvPr/>
        </p:nvSpPr>
        <p:spPr>
          <a:xfrm>
            <a:off x="5067166" y="7670620"/>
            <a:ext cx="1692402" cy="867950"/>
          </a:xfrm>
          <a:prstGeom prst="rect">
            <a:avLst/>
          </a:prstGeom>
          <a:solidFill>
            <a:srgbClr val="D6F5C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ML Model</a:t>
            </a:r>
          </a:p>
          <a:p>
            <a:pPr algn="ctr"/>
            <a:r>
              <a:rPr lang="en-US" b="1" dirty="0">
                <a:solidFill>
                  <a:schemeClr val="tx1"/>
                </a:solidFill>
                <a:latin typeface="Times New Roman" panose="02020603050405020304" pitchFamily="18" charset="0"/>
                <a:cs typeface="Times New Roman" panose="02020603050405020304" pitchFamily="18" charset="0"/>
              </a:rPr>
              <a:t>Using Random</a:t>
            </a:r>
          </a:p>
          <a:p>
            <a:pPr algn="ctr"/>
            <a:r>
              <a:rPr lang="en-US" b="1" dirty="0">
                <a:solidFill>
                  <a:schemeClr val="tx1"/>
                </a:solidFill>
                <a:latin typeface="Times New Roman" panose="02020603050405020304" pitchFamily="18" charset="0"/>
                <a:cs typeface="Times New Roman" panose="02020603050405020304" pitchFamily="18" charset="0"/>
              </a:rPr>
              <a:t>Forest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4C64427B-E556-F211-5DEF-9E37D85533F7}"/>
              </a:ext>
            </a:extLst>
          </p:cNvPr>
          <p:cNvSpPr/>
          <p:nvPr/>
        </p:nvSpPr>
        <p:spPr>
          <a:xfrm>
            <a:off x="2959133" y="8187270"/>
            <a:ext cx="1397076" cy="640517"/>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Testing</a:t>
            </a:r>
          </a:p>
          <a:p>
            <a:pPr algn="ctr"/>
            <a:r>
              <a:rPr lang="en-US" b="1" dirty="0">
                <a:solidFill>
                  <a:schemeClr val="tx1"/>
                </a:solidFill>
                <a:latin typeface="Times New Roman" panose="02020603050405020304" pitchFamily="18" charset="0"/>
                <a:cs typeface="Times New Roman" panose="02020603050405020304" pitchFamily="18" charset="0"/>
              </a:rPr>
              <a:t>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0" name="Rectangle 49">
            <a:extLst>
              <a:ext uri="{FF2B5EF4-FFF2-40B4-BE49-F238E27FC236}">
                <a16:creationId xmlns:a16="http://schemas.microsoft.com/office/drawing/2014/main" id="{0FF35FD2-3DDF-325F-557A-0FD632E2E9B5}"/>
              </a:ext>
            </a:extLst>
          </p:cNvPr>
          <p:cNvSpPr/>
          <p:nvPr/>
        </p:nvSpPr>
        <p:spPr>
          <a:xfrm>
            <a:off x="2934395" y="7184670"/>
            <a:ext cx="1421814" cy="658280"/>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Training</a:t>
            </a:r>
          </a:p>
          <a:p>
            <a:pPr algn="ctr"/>
            <a:r>
              <a:rPr lang="en-US" b="1" dirty="0">
                <a:solidFill>
                  <a:schemeClr val="tx1"/>
                </a:solidFill>
                <a:latin typeface="Times New Roman" panose="02020603050405020304" pitchFamily="18" charset="0"/>
                <a:cs typeface="Times New Roman" panose="02020603050405020304" pitchFamily="18" charset="0"/>
              </a:rPr>
              <a:t>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2" name="Oval 51">
            <a:extLst>
              <a:ext uri="{FF2B5EF4-FFF2-40B4-BE49-F238E27FC236}">
                <a16:creationId xmlns:a16="http://schemas.microsoft.com/office/drawing/2014/main" id="{41B7CA5E-1AE1-40A9-F3F0-A9B104E749A3}"/>
              </a:ext>
            </a:extLst>
          </p:cNvPr>
          <p:cNvSpPr/>
          <p:nvPr/>
        </p:nvSpPr>
        <p:spPr>
          <a:xfrm>
            <a:off x="7046751" y="7865853"/>
            <a:ext cx="1182849" cy="572295"/>
          </a:xfrm>
          <a:prstGeom prst="ellipse">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Values</a:t>
            </a:r>
          </a:p>
        </p:txBody>
      </p:sp>
      <p:cxnSp>
        <p:nvCxnSpPr>
          <p:cNvPr id="100" name="Connector: Elbow 99">
            <a:extLst>
              <a:ext uri="{FF2B5EF4-FFF2-40B4-BE49-F238E27FC236}">
                <a16:creationId xmlns:a16="http://schemas.microsoft.com/office/drawing/2014/main" id="{BCE97C1E-6197-480C-1695-666F98E29E39}"/>
              </a:ext>
            </a:extLst>
          </p:cNvPr>
          <p:cNvCxnSpPr>
            <a:cxnSpLocks/>
            <a:endCxn id="50" idx="1"/>
          </p:cNvCxnSpPr>
          <p:nvPr/>
        </p:nvCxnSpPr>
        <p:spPr>
          <a:xfrm flipV="1">
            <a:off x="2106405" y="7513810"/>
            <a:ext cx="827990" cy="434687"/>
          </a:xfrm>
          <a:prstGeom prst="bentConnector3">
            <a:avLst>
              <a:gd name="adj1" fmla="val 50000"/>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305F90D2-8040-7E0D-3465-2D441C4DA7BF}"/>
              </a:ext>
            </a:extLst>
          </p:cNvPr>
          <p:cNvCxnSpPr>
            <a:cxnSpLocks/>
          </p:cNvCxnSpPr>
          <p:nvPr/>
        </p:nvCxnSpPr>
        <p:spPr>
          <a:xfrm>
            <a:off x="2106405" y="8336523"/>
            <a:ext cx="819675" cy="397144"/>
          </a:xfrm>
          <a:prstGeom prst="bentConnector3">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A4A9EDDF-5736-6073-7357-D8CFCC74380F}"/>
              </a:ext>
            </a:extLst>
          </p:cNvPr>
          <p:cNvCxnSpPr>
            <a:cxnSpLocks/>
            <a:stCxn id="50" idx="3"/>
          </p:cNvCxnSpPr>
          <p:nvPr/>
        </p:nvCxnSpPr>
        <p:spPr>
          <a:xfrm>
            <a:off x="4356209" y="7513810"/>
            <a:ext cx="749191" cy="410990"/>
          </a:xfrm>
          <a:prstGeom prst="bent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773F3E2F-9FEA-B594-B64E-A8A6318BECCF}"/>
              </a:ext>
            </a:extLst>
          </p:cNvPr>
          <p:cNvCxnSpPr>
            <a:cxnSpLocks/>
            <a:stCxn id="28" idx="3"/>
          </p:cNvCxnSpPr>
          <p:nvPr/>
        </p:nvCxnSpPr>
        <p:spPr>
          <a:xfrm flipV="1">
            <a:off x="4356209" y="8153400"/>
            <a:ext cx="733951" cy="354129"/>
          </a:xfrm>
          <a:prstGeom prst="bent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C364FF56-963F-54A1-DBA4-2904E18DFA76}"/>
              </a:ext>
            </a:extLst>
          </p:cNvPr>
          <p:cNvCxnSpPr>
            <a:cxnSpLocks/>
            <a:stCxn id="18" idx="3"/>
            <a:endCxn id="52" idx="2"/>
          </p:cNvCxnSpPr>
          <p:nvPr/>
        </p:nvCxnSpPr>
        <p:spPr>
          <a:xfrm>
            <a:off x="6759568" y="8104595"/>
            <a:ext cx="287183" cy="474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E214CD57-FC58-8EBC-9CA2-667051ABB58C}"/>
              </a:ext>
            </a:extLst>
          </p:cNvPr>
          <p:cNvSpPr txBox="1"/>
          <p:nvPr/>
        </p:nvSpPr>
        <p:spPr>
          <a:xfrm>
            <a:off x="5288280" y="7299620"/>
            <a:ext cx="124968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Learning</a:t>
            </a:r>
            <a:endParaRPr lang="en-IN" b="1" dirty="0">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297C7C2F-4DFE-8B4B-2439-9165014518B7}"/>
              </a:ext>
            </a:extLst>
          </p:cNvPr>
          <p:cNvSpPr txBox="1"/>
          <p:nvPr/>
        </p:nvSpPr>
        <p:spPr>
          <a:xfrm>
            <a:off x="5394960" y="8488680"/>
            <a:ext cx="13716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Testing</a:t>
            </a:r>
            <a:endParaRPr lang="en-IN" b="1" dirty="0">
              <a:latin typeface="Times New Roman" panose="02020603050405020304" pitchFamily="18" charset="0"/>
              <a:cs typeface="Times New Roman" panose="02020603050405020304" pitchFamily="18" charset="0"/>
            </a:endParaRPr>
          </a:p>
        </p:txBody>
      </p:sp>
      <p:sp>
        <p:nvSpPr>
          <p:cNvPr id="86" name="Rectangle 85">
            <a:extLst>
              <a:ext uri="{FF2B5EF4-FFF2-40B4-BE49-F238E27FC236}">
                <a16:creationId xmlns:a16="http://schemas.microsoft.com/office/drawing/2014/main" id="{41E833E9-E407-D1A6-CDDB-B0005E62D4CE}"/>
              </a:ext>
            </a:extLst>
          </p:cNvPr>
          <p:cNvSpPr/>
          <p:nvPr/>
        </p:nvSpPr>
        <p:spPr>
          <a:xfrm>
            <a:off x="8708431" y="7194800"/>
            <a:ext cx="1456649" cy="771494"/>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Dataset</a:t>
            </a:r>
          </a:p>
          <a:p>
            <a:pPr algn="ctr"/>
            <a:r>
              <a:rPr lang="en-IN" b="1" dirty="0">
                <a:solidFill>
                  <a:schemeClr val="tx1"/>
                </a:solidFill>
                <a:latin typeface="Times New Roman" panose="02020603050405020304" pitchFamily="18" charset="0"/>
                <a:cs typeface="Times New Roman" panose="02020603050405020304" pitchFamily="18" charset="0"/>
              </a:rPr>
              <a:t>Acquisition</a:t>
            </a:r>
          </a:p>
        </p:txBody>
      </p:sp>
      <p:sp>
        <p:nvSpPr>
          <p:cNvPr id="89" name="Rectangle 88">
            <a:extLst>
              <a:ext uri="{FF2B5EF4-FFF2-40B4-BE49-F238E27FC236}">
                <a16:creationId xmlns:a16="http://schemas.microsoft.com/office/drawing/2014/main" id="{A31F14E3-BD1C-9F89-8039-FFA638139BEA}"/>
              </a:ext>
            </a:extLst>
          </p:cNvPr>
          <p:cNvSpPr/>
          <p:nvPr/>
        </p:nvSpPr>
        <p:spPr>
          <a:xfrm>
            <a:off x="10073640" y="8158644"/>
            <a:ext cx="1900597" cy="771494"/>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Hyperparameter</a:t>
            </a:r>
          </a:p>
          <a:p>
            <a:pPr algn="ctr"/>
            <a:r>
              <a:rPr lang="en-US" b="1" dirty="0">
                <a:solidFill>
                  <a:schemeClr val="tx1"/>
                </a:solidFill>
                <a:latin typeface="Times New Roman" panose="02020603050405020304" pitchFamily="18" charset="0"/>
                <a:cs typeface="Times New Roman" panose="02020603050405020304" pitchFamily="18" charset="0"/>
              </a:rPr>
              <a:t>Tuning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96" name="Rectangle 95">
            <a:extLst>
              <a:ext uri="{FF2B5EF4-FFF2-40B4-BE49-F238E27FC236}">
                <a16:creationId xmlns:a16="http://schemas.microsoft.com/office/drawing/2014/main" id="{B564ACC7-0E8B-B6D8-9AC1-AE2C7845200A}"/>
              </a:ext>
            </a:extLst>
          </p:cNvPr>
          <p:cNvSpPr/>
          <p:nvPr/>
        </p:nvSpPr>
        <p:spPr>
          <a:xfrm>
            <a:off x="12452203" y="8168416"/>
            <a:ext cx="1456649" cy="771494"/>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Feature</a:t>
            </a:r>
          </a:p>
          <a:p>
            <a:pPr algn="ctr"/>
            <a:r>
              <a:rPr lang="en-US" b="1" dirty="0">
                <a:solidFill>
                  <a:schemeClr val="tx1"/>
                </a:solidFill>
                <a:latin typeface="Times New Roman" panose="02020603050405020304" pitchFamily="18" charset="0"/>
                <a:cs typeface="Times New Roman" panose="02020603050405020304" pitchFamily="18" charset="0"/>
              </a:rPr>
              <a:t>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2" name="Rectangle 101">
            <a:extLst>
              <a:ext uri="{FF2B5EF4-FFF2-40B4-BE49-F238E27FC236}">
                <a16:creationId xmlns:a16="http://schemas.microsoft.com/office/drawing/2014/main" id="{E91B0079-60AD-8D9D-166E-2928C2716D2C}"/>
              </a:ext>
            </a:extLst>
          </p:cNvPr>
          <p:cNvSpPr/>
          <p:nvPr/>
        </p:nvSpPr>
        <p:spPr>
          <a:xfrm>
            <a:off x="10799065" y="7194800"/>
            <a:ext cx="1456649" cy="771494"/>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Dataset</a:t>
            </a:r>
          </a:p>
          <a:p>
            <a:pPr algn="ctr"/>
            <a:r>
              <a:rPr lang="en-IN" b="1" dirty="0">
                <a:solidFill>
                  <a:schemeClr val="tx1"/>
                </a:solidFill>
                <a:latin typeface="Times New Roman" panose="02020603050405020304" pitchFamily="18" charset="0"/>
                <a:cs typeface="Times New Roman" panose="02020603050405020304" pitchFamily="18" charset="0"/>
              </a:rPr>
              <a:t>Processing</a:t>
            </a:r>
          </a:p>
        </p:txBody>
      </p:sp>
      <p:sp>
        <p:nvSpPr>
          <p:cNvPr id="103" name="Rectangle 102">
            <a:extLst>
              <a:ext uri="{FF2B5EF4-FFF2-40B4-BE49-F238E27FC236}">
                <a16:creationId xmlns:a16="http://schemas.microsoft.com/office/drawing/2014/main" id="{90EC422D-61D3-7174-20FD-849A6DED2659}"/>
              </a:ext>
            </a:extLst>
          </p:cNvPr>
          <p:cNvSpPr/>
          <p:nvPr/>
        </p:nvSpPr>
        <p:spPr>
          <a:xfrm>
            <a:off x="12853906" y="7207632"/>
            <a:ext cx="1456649" cy="771494"/>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ML Model</a:t>
            </a:r>
          </a:p>
          <a:p>
            <a:pPr algn="ctr"/>
            <a:r>
              <a:rPr lang="en-US" sz="1600" b="1" dirty="0">
                <a:solidFill>
                  <a:schemeClr val="tx1"/>
                </a:solidFill>
                <a:latin typeface="Times New Roman" panose="02020603050405020304" pitchFamily="18" charset="0"/>
                <a:cs typeface="Times New Roman" panose="02020603050405020304" pitchFamily="18" charset="0"/>
              </a:rPr>
              <a:t>Training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4" name="Rectangle 103">
            <a:extLst>
              <a:ext uri="{FF2B5EF4-FFF2-40B4-BE49-F238E27FC236}">
                <a16:creationId xmlns:a16="http://schemas.microsoft.com/office/drawing/2014/main" id="{078EA658-ADA1-2E44-1733-F59DF7A7B143}"/>
              </a:ext>
            </a:extLst>
          </p:cNvPr>
          <p:cNvSpPr/>
          <p:nvPr/>
        </p:nvSpPr>
        <p:spPr>
          <a:xfrm>
            <a:off x="14739511" y="7086017"/>
            <a:ext cx="1456649" cy="771494"/>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ML Model</a:t>
            </a:r>
          </a:p>
          <a:p>
            <a:pPr algn="ctr"/>
            <a:r>
              <a:rPr lang="en-US" sz="1600" b="1" dirty="0">
                <a:solidFill>
                  <a:schemeClr val="tx1"/>
                </a:solidFill>
                <a:latin typeface="Times New Roman" panose="02020603050405020304" pitchFamily="18" charset="0"/>
                <a:cs typeface="Times New Roman" panose="02020603050405020304" pitchFamily="18" charset="0"/>
              </a:rPr>
              <a:t>Evaluation</a:t>
            </a:r>
          </a:p>
        </p:txBody>
      </p:sp>
      <p:sp>
        <p:nvSpPr>
          <p:cNvPr id="106" name="Rectangle 105">
            <a:extLst>
              <a:ext uri="{FF2B5EF4-FFF2-40B4-BE49-F238E27FC236}">
                <a16:creationId xmlns:a16="http://schemas.microsoft.com/office/drawing/2014/main" id="{6C9DC20C-73BF-06C5-1091-4915E5246A36}"/>
              </a:ext>
            </a:extLst>
          </p:cNvPr>
          <p:cNvSpPr/>
          <p:nvPr/>
        </p:nvSpPr>
        <p:spPr>
          <a:xfrm>
            <a:off x="14528559" y="8202545"/>
            <a:ext cx="1456649" cy="771494"/>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Deployment</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109" name="Straight Arrow Connector 108">
            <a:extLst>
              <a:ext uri="{FF2B5EF4-FFF2-40B4-BE49-F238E27FC236}">
                <a16:creationId xmlns:a16="http://schemas.microsoft.com/office/drawing/2014/main" id="{9D53DBD2-8243-E04F-EAD6-817889D44F2F}"/>
              </a:ext>
            </a:extLst>
          </p:cNvPr>
          <p:cNvCxnSpPr>
            <a:cxnSpLocks/>
            <a:endCxn id="102" idx="1"/>
          </p:cNvCxnSpPr>
          <p:nvPr/>
        </p:nvCxnSpPr>
        <p:spPr>
          <a:xfrm flipV="1">
            <a:off x="10148780" y="7580547"/>
            <a:ext cx="650285" cy="1883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35084B2A-81AB-371C-E853-32FA4913A4AA}"/>
              </a:ext>
            </a:extLst>
          </p:cNvPr>
          <p:cNvCxnSpPr>
            <a:cxnSpLocks/>
          </p:cNvCxnSpPr>
          <p:nvPr/>
        </p:nvCxnSpPr>
        <p:spPr>
          <a:xfrm flipV="1">
            <a:off x="12224462" y="7612663"/>
            <a:ext cx="650285" cy="1883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B052424C-B224-1C33-AC40-D378CFB4C6F3}"/>
              </a:ext>
            </a:extLst>
          </p:cNvPr>
          <p:cNvCxnSpPr>
            <a:cxnSpLocks/>
          </p:cNvCxnSpPr>
          <p:nvPr/>
        </p:nvCxnSpPr>
        <p:spPr>
          <a:xfrm>
            <a:off x="14325600" y="7575569"/>
            <a:ext cx="42769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6A59A5E5-337C-7759-55F8-402D39515A03}"/>
              </a:ext>
            </a:extLst>
          </p:cNvPr>
          <p:cNvCxnSpPr>
            <a:cxnSpLocks/>
          </p:cNvCxnSpPr>
          <p:nvPr/>
        </p:nvCxnSpPr>
        <p:spPr>
          <a:xfrm flipH="1">
            <a:off x="11979639" y="8702359"/>
            <a:ext cx="465922" cy="2000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E86E49B7-E300-AB53-5B7B-7DC294D533F4}"/>
              </a:ext>
            </a:extLst>
          </p:cNvPr>
          <p:cNvCxnSpPr>
            <a:cxnSpLocks/>
          </p:cNvCxnSpPr>
          <p:nvPr/>
        </p:nvCxnSpPr>
        <p:spPr>
          <a:xfrm>
            <a:off x="15422880" y="7868641"/>
            <a:ext cx="0" cy="34571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a16="http://schemas.microsoft.com/office/drawing/2014/main" id="{4B07FFA5-EDA9-40F9-CD69-0ECC0433655E}"/>
              </a:ext>
            </a:extLst>
          </p:cNvPr>
          <p:cNvSpPr txBox="1"/>
          <p:nvPr/>
        </p:nvSpPr>
        <p:spPr>
          <a:xfrm flipH="1">
            <a:off x="67747" y="8912863"/>
            <a:ext cx="7663814"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Fig:1 Flowchart Of Random Forest Algorithm</a:t>
            </a:r>
            <a:endParaRPr lang="en-IN" b="1" dirty="0">
              <a:latin typeface="Times New Roman" panose="02020603050405020304" pitchFamily="18" charset="0"/>
              <a:cs typeface="Times New Roman" panose="02020603050405020304" pitchFamily="18" charset="0"/>
            </a:endParaRPr>
          </a:p>
        </p:txBody>
      </p:sp>
      <p:cxnSp>
        <p:nvCxnSpPr>
          <p:cNvPr id="147" name="Connector: Elbow 146">
            <a:extLst>
              <a:ext uri="{FF2B5EF4-FFF2-40B4-BE49-F238E27FC236}">
                <a16:creationId xmlns:a16="http://schemas.microsoft.com/office/drawing/2014/main" id="{D62CC9EE-6E26-0311-2AAC-EA50AF86BB11}"/>
              </a:ext>
            </a:extLst>
          </p:cNvPr>
          <p:cNvCxnSpPr>
            <a:cxnSpLocks/>
          </p:cNvCxnSpPr>
          <p:nvPr/>
        </p:nvCxnSpPr>
        <p:spPr>
          <a:xfrm flipV="1">
            <a:off x="13929360" y="7857511"/>
            <a:ext cx="956900" cy="661457"/>
          </a:xfrm>
          <a:prstGeom prst="bentConnector3">
            <a:avLst>
              <a:gd name="adj1" fmla="val 5159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TextBox 149">
            <a:extLst>
              <a:ext uri="{FF2B5EF4-FFF2-40B4-BE49-F238E27FC236}">
                <a16:creationId xmlns:a16="http://schemas.microsoft.com/office/drawing/2014/main" id="{E917D3AB-D50E-1556-D1E3-24F70D22E41D}"/>
              </a:ext>
            </a:extLst>
          </p:cNvPr>
          <p:cNvSpPr txBox="1"/>
          <p:nvPr/>
        </p:nvSpPr>
        <p:spPr>
          <a:xfrm flipH="1">
            <a:off x="8600647" y="8929762"/>
            <a:ext cx="7663814"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Fig:1 Flowchart Of Random Forest Algorithm</a:t>
            </a:r>
            <a:endParaRPr lang="en-IN" b="1" dirty="0">
              <a:latin typeface="Times New Roman" panose="02020603050405020304" pitchFamily="18" charset="0"/>
              <a:cs typeface="Times New Roman" panose="02020603050405020304" pitchFamily="18" charset="0"/>
            </a:endParaRPr>
          </a:p>
        </p:txBody>
      </p:sp>
      <p:sp>
        <p:nvSpPr>
          <p:cNvPr id="151" name="TextBox 150">
            <a:extLst>
              <a:ext uri="{FF2B5EF4-FFF2-40B4-BE49-F238E27FC236}">
                <a16:creationId xmlns:a16="http://schemas.microsoft.com/office/drawing/2014/main" id="{F0470BC2-04F1-0008-E413-2120C0CE5E7F}"/>
              </a:ext>
            </a:extLst>
          </p:cNvPr>
          <p:cNvSpPr txBox="1"/>
          <p:nvPr/>
        </p:nvSpPr>
        <p:spPr>
          <a:xfrm>
            <a:off x="172688" y="11658525"/>
            <a:ext cx="3512086"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Fig:2 Comparison on the accuracy of RF with GB.</a:t>
            </a:r>
            <a:endParaRPr lang="en-IN" b="1"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467AA252-E57C-76A0-9FEA-F1B1576E171C}"/>
              </a:ext>
            </a:extLst>
          </p:cNvPr>
          <p:cNvSpPr txBox="1"/>
          <p:nvPr/>
        </p:nvSpPr>
        <p:spPr>
          <a:xfrm>
            <a:off x="3763310" y="9403214"/>
            <a:ext cx="4433280" cy="646331"/>
          </a:xfrm>
          <a:prstGeom prst="rect">
            <a:avLst/>
          </a:prstGeom>
          <a:noFill/>
        </p:spPr>
        <p:txBody>
          <a:bodyPr wrap="square" rtlCol="0">
            <a:spAutoFit/>
          </a:bodyPr>
          <a:lstStyle/>
          <a:p>
            <a:pPr algn="ctr"/>
            <a:r>
              <a:rPr lang="en-US" dirty="0"/>
              <a:t> </a:t>
            </a:r>
            <a:r>
              <a:rPr lang="en-US" b="1" dirty="0">
                <a:latin typeface="Times New Roman" panose="02020603050405020304" pitchFamily="18" charset="0"/>
                <a:cs typeface="Times New Roman" panose="02020603050405020304" pitchFamily="18" charset="0"/>
              </a:rPr>
              <a:t>Table.1. Comparison of  The Random Forest vs Gradient Boosting.</a:t>
            </a:r>
          </a:p>
        </p:txBody>
      </p:sp>
      <p:sp>
        <p:nvSpPr>
          <p:cNvPr id="63" name="TextBox 62">
            <a:extLst>
              <a:ext uri="{FF2B5EF4-FFF2-40B4-BE49-F238E27FC236}">
                <a16:creationId xmlns:a16="http://schemas.microsoft.com/office/drawing/2014/main" id="{19FD377A-9BBA-778D-EB95-AF613835F39A}"/>
              </a:ext>
            </a:extLst>
          </p:cNvPr>
          <p:cNvSpPr txBox="1"/>
          <p:nvPr/>
        </p:nvSpPr>
        <p:spPr>
          <a:xfrm>
            <a:off x="8315774" y="11647287"/>
            <a:ext cx="3512086"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Fig:2 Comparison on the accuracy of RF with XGB.</a:t>
            </a:r>
            <a:endParaRPr lang="en-IN" b="1" dirty="0">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DB53F3CF-2F35-403F-B927-53A4C6F3029B}"/>
              </a:ext>
            </a:extLst>
          </p:cNvPr>
          <p:cNvSpPr txBox="1"/>
          <p:nvPr/>
        </p:nvSpPr>
        <p:spPr>
          <a:xfrm>
            <a:off x="11762880" y="9434495"/>
            <a:ext cx="4433280" cy="646331"/>
          </a:xfrm>
          <a:prstGeom prst="rect">
            <a:avLst/>
          </a:prstGeom>
          <a:noFill/>
        </p:spPr>
        <p:txBody>
          <a:bodyPr wrap="square" rtlCol="0">
            <a:spAutoFit/>
          </a:bodyPr>
          <a:lstStyle/>
          <a:p>
            <a:pPr algn="ctr"/>
            <a:r>
              <a:rPr lang="en-US" dirty="0"/>
              <a:t> </a:t>
            </a:r>
            <a:r>
              <a:rPr lang="en-US" b="1" dirty="0">
                <a:latin typeface="Times New Roman" panose="02020603050405020304" pitchFamily="18" charset="0"/>
                <a:cs typeface="Times New Roman" panose="02020603050405020304" pitchFamily="18" charset="0"/>
              </a:rPr>
              <a:t>Table.1. Comparison of  The Random Forest vs XG -Boost.</a:t>
            </a:r>
          </a:p>
        </p:txBody>
      </p:sp>
      <p:sp>
        <p:nvSpPr>
          <p:cNvPr id="76" name="Rectangle: Rounded Corners 75">
            <a:extLst>
              <a:ext uri="{FF2B5EF4-FFF2-40B4-BE49-F238E27FC236}">
                <a16:creationId xmlns:a16="http://schemas.microsoft.com/office/drawing/2014/main" id="{BCE64D90-6AAF-810A-9133-097D6C8EAAA7}"/>
              </a:ext>
            </a:extLst>
          </p:cNvPr>
          <p:cNvSpPr/>
          <p:nvPr/>
        </p:nvSpPr>
        <p:spPr>
          <a:xfrm>
            <a:off x="374075" y="22950379"/>
            <a:ext cx="598198" cy="630051"/>
          </a:xfrm>
          <a:prstGeom prst="roundRect">
            <a:avLst/>
          </a:prstGeom>
          <a:solidFill>
            <a:srgbClr val="FBDC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Times New Roman" panose="02020603050405020304" pitchFamily="18" charset="0"/>
                <a:cs typeface="Times New Roman" panose="02020603050405020304" pitchFamily="18" charset="0"/>
              </a:rPr>
              <a:t>Data Set</a:t>
            </a:r>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87" name="Rectangle: Rounded Corners 86">
            <a:extLst>
              <a:ext uri="{FF2B5EF4-FFF2-40B4-BE49-F238E27FC236}">
                <a16:creationId xmlns:a16="http://schemas.microsoft.com/office/drawing/2014/main" id="{60ACBD64-693B-072F-F1F8-8C742240CC7A}"/>
              </a:ext>
            </a:extLst>
          </p:cNvPr>
          <p:cNvSpPr/>
          <p:nvPr/>
        </p:nvSpPr>
        <p:spPr>
          <a:xfrm>
            <a:off x="1261641" y="22526836"/>
            <a:ext cx="1273215" cy="487327"/>
          </a:xfrm>
          <a:prstGeom prst="roundRect">
            <a:avLst/>
          </a:prstGeom>
          <a:solidFill>
            <a:srgbClr val="FBDC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Training 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94" name="Rectangle: Rounded Corners 93">
            <a:extLst>
              <a:ext uri="{FF2B5EF4-FFF2-40B4-BE49-F238E27FC236}">
                <a16:creationId xmlns:a16="http://schemas.microsoft.com/office/drawing/2014/main" id="{83CE1D16-56D5-0C20-E092-237BE2466CAE}"/>
              </a:ext>
            </a:extLst>
          </p:cNvPr>
          <p:cNvSpPr/>
          <p:nvPr/>
        </p:nvSpPr>
        <p:spPr>
          <a:xfrm>
            <a:off x="1249105" y="23535246"/>
            <a:ext cx="1251027" cy="488985"/>
          </a:xfrm>
          <a:prstGeom prst="roundRect">
            <a:avLst/>
          </a:prstGeom>
          <a:solidFill>
            <a:srgbClr val="FBDCB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Test 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7" name="Rectangle: Rounded Corners 106">
            <a:extLst>
              <a:ext uri="{FF2B5EF4-FFF2-40B4-BE49-F238E27FC236}">
                <a16:creationId xmlns:a16="http://schemas.microsoft.com/office/drawing/2014/main" id="{30F8C36D-5743-2112-A4EB-48278198F236}"/>
              </a:ext>
            </a:extLst>
          </p:cNvPr>
          <p:cNvSpPr/>
          <p:nvPr/>
        </p:nvSpPr>
        <p:spPr>
          <a:xfrm>
            <a:off x="2986268" y="22385438"/>
            <a:ext cx="1481560" cy="428263"/>
          </a:xfrm>
          <a:prstGeom prst="roundRect">
            <a:avLst/>
          </a:prstGeom>
          <a:solidFill>
            <a:srgbClr val="FBDCB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SH Group</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8" name="Rectangle: Rounded Corners 107">
            <a:extLst>
              <a:ext uri="{FF2B5EF4-FFF2-40B4-BE49-F238E27FC236}">
                <a16:creationId xmlns:a16="http://schemas.microsoft.com/office/drawing/2014/main" id="{6546D9FF-4F09-B862-E85B-C12AC59F62C7}"/>
              </a:ext>
            </a:extLst>
          </p:cNvPr>
          <p:cNvSpPr/>
          <p:nvPr/>
        </p:nvSpPr>
        <p:spPr>
          <a:xfrm>
            <a:off x="3022530" y="23042647"/>
            <a:ext cx="1481560" cy="586644"/>
          </a:xfrm>
          <a:prstGeom prst="roundRect">
            <a:avLst/>
          </a:prstGeom>
          <a:solidFill>
            <a:srgbClr val="FBDCB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Non-SH Group</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10" name="Rectangle: Rounded Corners 109">
            <a:extLst>
              <a:ext uri="{FF2B5EF4-FFF2-40B4-BE49-F238E27FC236}">
                <a16:creationId xmlns:a16="http://schemas.microsoft.com/office/drawing/2014/main" id="{5BBD75E2-FF39-4183-9B43-6644A941F1D8}"/>
              </a:ext>
            </a:extLst>
          </p:cNvPr>
          <p:cNvSpPr/>
          <p:nvPr/>
        </p:nvSpPr>
        <p:spPr>
          <a:xfrm>
            <a:off x="5015696" y="23549027"/>
            <a:ext cx="1481560" cy="428263"/>
          </a:xfrm>
          <a:prstGeom prst="roundRect">
            <a:avLst/>
          </a:prstGeom>
          <a:solidFill>
            <a:srgbClr val="FBDCB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Validation</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11" name="Rectangle: Rounded Corners 110">
            <a:extLst>
              <a:ext uri="{FF2B5EF4-FFF2-40B4-BE49-F238E27FC236}">
                <a16:creationId xmlns:a16="http://schemas.microsoft.com/office/drawing/2014/main" id="{F9A4D5B7-D426-DFDF-007C-BC4C6A2F2679}"/>
              </a:ext>
            </a:extLst>
          </p:cNvPr>
          <p:cNvSpPr/>
          <p:nvPr/>
        </p:nvSpPr>
        <p:spPr>
          <a:xfrm>
            <a:off x="4901878" y="22769286"/>
            <a:ext cx="1481560" cy="428263"/>
          </a:xfrm>
          <a:prstGeom prst="roundRect">
            <a:avLst/>
          </a:prstGeom>
          <a:solidFill>
            <a:srgbClr val="FBDCB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XG Boost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12" name="Rectangle: Rounded Corners 111">
            <a:extLst>
              <a:ext uri="{FF2B5EF4-FFF2-40B4-BE49-F238E27FC236}">
                <a16:creationId xmlns:a16="http://schemas.microsoft.com/office/drawing/2014/main" id="{AF8FEC01-8F1D-9847-C6DF-AFC49C03B69C}"/>
              </a:ext>
            </a:extLst>
          </p:cNvPr>
          <p:cNvSpPr/>
          <p:nvPr/>
        </p:nvSpPr>
        <p:spPr>
          <a:xfrm>
            <a:off x="6625922" y="22049226"/>
            <a:ext cx="1481560" cy="889691"/>
          </a:xfrm>
          <a:prstGeom prst="roundRect">
            <a:avLst/>
          </a:prstGeom>
          <a:solidFill>
            <a:srgbClr val="FBDCB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Significant </a:t>
            </a:r>
          </a:p>
          <a:p>
            <a:pPr algn="ctr"/>
            <a:r>
              <a:rPr lang="en-US" b="1" dirty="0">
                <a:solidFill>
                  <a:schemeClr val="tx1"/>
                </a:solidFill>
                <a:latin typeface="Times New Roman" panose="02020603050405020304" pitchFamily="18" charset="0"/>
                <a:cs typeface="Times New Roman" panose="02020603050405020304" pitchFamily="18" charset="0"/>
              </a:rPr>
              <a:t>Future Scope</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114" name="Connector: Elbow 113">
            <a:extLst>
              <a:ext uri="{FF2B5EF4-FFF2-40B4-BE49-F238E27FC236}">
                <a16:creationId xmlns:a16="http://schemas.microsoft.com/office/drawing/2014/main" id="{2143E414-DC09-C6DC-9F14-E44F0506B12C}"/>
              </a:ext>
            </a:extLst>
          </p:cNvPr>
          <p:cNvCxnSpPr>
            <a:cxnSpLocks/>
            <a:stCxn id="76" idx="3"/>
            <a:endCxn id="87" idx="1"/>
          </p:cNvCxnSpPr>
          <p:nvPr/>
        </p:nvCxnSpPr>
        <p:spPr>
          <a:xfrm flipV="1">
            <a:off x="972273" y="22770500"/>
            <a:ext cx="289368" cy="494905"/>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F1BD9A03-9897-4368-C882-01DF44953C1D}"/>
              </a:ext>
            </a:extLst>
          </p:cNvPr>
          <p:cNvCxnSpPr>
            <a:cxnSpLocks/>
            <a:endCxn id="94" idx="1"/>
          </p:cNvCxnSpPr>
          <p:nvPr/>
        </p:nvCxnSpPr>
        <p:spPr>
          <a:xfrm rot="16200000" flipH="1">
            <a:off x="891830" y="23422464"/>
            <a:ext cx="460870" cy="25367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Left Bracket 124">
            <a:extLst>
              <a:ext uri="{FF2B5EF4-FFF2-40B4-BE49-F238E27FC236}">
                <a16:creationId xmlns:a16="http://schemas.microsoft.com/office/drawing/2014/main" id="{43F25AFC-45A0-E0CF-0053-04D450DF8436}"/>
              </a:ext>
            </a:extLst>
          </p:cNvPr>
          <p:cNvSpPr/>
          <p:nvPr/>
        </p:nvSpPr>
        <p:spPr>
          <a:xfrm>
            <a:off x="2766349" y="22570633"/>
            <a:ext cx="208345" cy="865269"/>
          </a:xfrm>
          <a:prstGeom prst="leftBracket">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6" name="Right Bracket 125">
            <a:extLst>
              <a:ext uri="{FF2B5EF4-FFF2-40B4-BE49-F238E27FC236}">
                <a16:creationId xmlns:a16="http://schemas.microsoft.com/office/drawing/2014/main" id="{760FEDB5-0B31-328E-DFAA-846610C775E2}"/>
              </a:ext>
            </a:extLst>
          </p:cNvPr>
          <p:cNvSpPr/>
          <p:nvPr/>
        </p:nvSpPr>
        <p:spPr>
          <a:xfrm>
            <a:off x="4490977" y="22570630"/>
            <a:ext cx="138896" cy="866132"/>
          </a:xfrm>
          <a:prstGeom prst="rightBracket">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7" name="Arrow: Right 126">
            <a:extLst>
              <a:ext uri="{FF2B5EF4-FFF2-40B4-BE49-F238E27FC236}">
                <a16:creationId xmlns:a16="http://schemas.microsoft.com/office/drawing/2014/main" id="{A0831279-1406-33F7-B92B-D3BAC7EA2C02}"/>
              </a:ext>
            </a:extLst>
          </p:cNvPr>
          <p:cNvSpPr/>
          <p:nvPr/>
        </p:nvSpPr>
        <p:spPr>
          <a:xfrm>
            <a:off x="4641449" y="22923640"/>
            <a:ext cx="231494" cy="11071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Arrow: Right 127">
            <a:extLst>
              <a:ext uri="{FF2B5EF4-FFF2-40B4-BE49-F238E27FC236}">
                <a16:creationId xmlns:a16="http://schemas.microsoft.com/office/drawing/2014/main" id="{B9FB8FDB-24C0-C74D-181D-9AF25B0C41CE}"/>
              </a:ext>
            </a:extLst>
          </p:cNvPr>
          <p:cNvSpPr/>
          <p:nvPr/>
        </p:nvSpPr>
        <p:spPr>
          <a:xfrm>
            <a:off x="2534856" y="22744253"/>
            <a:ext cx="231493" cy="154569"/>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1" name="Straight Arrow Connector 130">
            <a:extLst>
              <a:ext uri="{FF2B5EF4-FFF2-40B4-BE49-F238E27FC236}">
                <a16:creationId xmlns:a16="http://schemas.microsoft.com/office/drawing/2014/main" id="{F61B5B82-BDA6-BC37-8876-A909C870E865}"/>
              </a:ext>
            </a:extLst>
          </p:cNvPr>
          <p:cNvCxnSpPr>
            <a:stCxn id="94" idx="3"/>
            <a:endCxn id="110" idx="1"/>
          </p:cNvCxnSpPr>
          <p:nvPr/>
        </p:nvCxnSpPr>
        <p:spPr>
          <a:xfrm flipV="1">
            <a:off x="2500132" y="23763159"/>
            <a:ext cx="2515564" cy="165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A5E23E57-D0CB-2C46-E53F-37D941C10335}"/>
              </a:ext>
            </a:extLst>
          </p:cNvPr>
          <p:cNvCxnSpPr>
            <a:cxnSpLocks/>
            <a:stCxn id="111" idx="3"/>
            <a:endCxn id="112" idx="1"/>
          </p:cNvCxnSpPr>
          <p:nvPr/>
        </p:nvCxnSpPr>
        <p:spPr>
          <a:xfrm flipV="1">
            <a:off x="6383438" y="22494072"/>
            <a:ext cx="242484" cy="48934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5A578A7B-AED6-9DA2-8753-AF4FA1922289}"/>
              </a:ext>
            </a:extLst>
          </p:cNvPr>
          <p:cNvCxnSpPr>
            <a:cxnSpLocks/>
            <a:stCxn id="110" idx="3"/>
          </p:cNvCxnSpPr>
          <p:nvPr/>
        </p:nvCxnSpPr>
        <p:spPr>
          <a:xfrm flipV="1">
            <a:off x="6497256" y="22909095"/>
            <a:ext cx="887392" cy="854064"/>
          </a:xfrm>
          <a:prstGeom prst="bentConnector3">
            <a:avLst>
              <a:gd name="adj1" fmla="val 10087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6" name="TextBox 175">
            <a:extLst>
              <a:ext uri="{FF2B5EF4-FFF2-40B4-BE49-F238E27FC236}">
                <a16:creationId xmlns:a16="http://schemas.microsoft.com/office/drawing/2014/main" id="{04ECFDD7-C96C-AF4C-0C12-3561F6B518E3}"/>
              </a:ext>
            </a:extLst>
          </p:cNvPr>
          <p:cNvSpPr txBox="1"/>
          <p:nvPr/>
        </p:nvSpPr>
        <p:spPr>
          <a:xfrm flipH="1">
            <a:off x="171741" y="24034379"/>
            <a:ext cx="7663814"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Fig:1 Flowchart Of XG Boost Algorithm</a:t>
            </a:r>
            <a:endParaRPr lang="en-IN" b="1" dirty="0">
              <a:latin typeface="Times New Roman" panose="02020603050405020304" pitchFamily="18" charset="0"/>
              <a:cs typeface="Times New Roman" panose="02020603050405020304" pitchFamily="18" charset="0"/>
            </a:endParaRPr>
          </a:p>
        </p:txBody>
      </p:sp>
      <p:sp>
        <p:nvSpPr>
          <p:cNvPr id="177" name="Rectangle 176">
            <a:extLst>
              <a:ext uri="{FF2B5EF4-FFF2-40B4-BE49-F238E27FC236}">
                <a16:creationId xmlns:a16="http://schemas.microsoft.com/office/drawing/2014/main" id="{A109FCDD-1F06-3B3A-04B3-FA39D105515E}"/>
              </a:ext>
            </a:extLst>
          </p:cNvPr>
          <p:cNvSpPr/>
          <p:nvPr/>
        </p:nvSpPr>
        <p:spPr>
          <a:xfrm>
            <a:off x="8717930" y="22934651"/>
            <a:ext cx="1534141" cy="867950"/>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Dataset</a:t>
            </a:r>
          </a:p>
          <a:p>
            <a:pPr algn="ctr"/>
            <a:r>
              <a:rPr lang="en-US" b="1" dirty="0">
                <a:solidFill>
                  <a:schemeClr val="tx1"/>
                </a:solidFill>
                <a:latin typeface="Times New Roman" panose="02020603050405020304" pitchFamily="18" charset="0"/>
                <a:cs typeface="Times New Roman" panose="02020603050405020304" pitchFamily="18" charset="0"/>
              </a:rPr>
              <a:t>(SSD &amp; HDD)</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78" name="Rectangle 177">
            <a:extLst>
              <a:ext uri="{FF2B5EF4-FFF2-40B4-BE49-F238E27FC236}">
                <a16:creationId xmlns:a16="http://schemas.microsoft.com/office/drawing/2014/main" id="{7CF6B27C-9D6D-AB57-487D-553EE7C22BC7}"/>
              </a:ext>
            </a:extLst>
          </p:cNvPr>
          <p:cNvSpPr/>
          <p:nvPr/>
        </p:nvSpPr>
        <p:spPr>
          <a:xfrm>
            <a:off x="13235983" y="22731718"/>
            <a:ext cx="1692402" cy="867950"/>
          </a:xfrm>
          <a:prstGeom prst="rect">
            <a:avLst/>
          </a:prstGeom>
          <a:solidFill>
            <a:srgbClr val="D6F5C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ML Model</a:t>
            </a:r>
          </a:p>
          <a:p>
            <a:pPr algn="ctr"/>
            <a:r>
              <a:rPr lang="en-US" b="1" dirty="0">
                <a:solidFill>
                  <a:schemeClr val="tx1"/>
                </a:solidFill>
                <a:latin typeface="Times New Roman" panose="02020603050405020304" pitchFamily="18" charset="0"/>
                <a:cs typeface="Times New Roman" panose="02020603050405020304" pitchFamily="18" charset="0"/>
              </a:rPr>
              <a:t>Using SVM</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79" name="Rectangle 178">
            <a:extLst>
              <a:ext uri="{FF2B5EF4-FFF2-40B4-BE49-F238E27FC236}">
                <a16:creationId xmlns:a16="http://schemas.microsoft.com/office/drawing/2014/main" id="{C898792A-EED1-1B9E-6F26-97F577E0AD87}"/>
              </a:ext>
            </a:extLst>
          </p:cNvPr>
          <p:cNvSpPr/>
          <p:nvPr/>
        </p:nvSpPr>
        <p:spPr>
          <a:xfrm>
            <a:off x="11070075" y="23329393"/>
            <a:ext cx="1397076" cy="640517"/>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Testing</a:t>
            </a:r>
          </a:p>
          <a:p>
            <a:pPr algn="ctr"/>
            <a:r>
              <a:rPr lang="en-US" b="1" dirty="0">
                <a:solidFill>
                  <a:schemeClr val="tx1"/>
                </a:solidFill>
                <a:latin typeface="Times New Roman" panose="02020603050405020304" pitchFamily="18" charset="0"/>
                <a:cs typeface="Times New Roman" panose="02020603050405020304" pitchFamily="18" charset="0"/>
              </a:rPr>
              <a:t>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80" name="Rectangle 179">
            <a:extLst>
              <a:ext uri="{FF2B5EF4-FFF2-40B4-BE49-F238E27FC236}">
                <a16:creationId xmlns:a16="http://schemas.microsoft.com/office/drawing/2014/main" id="{D0CE8A84-F826-B778-15C5-A6A1B9AF2A68}"/>
              </a:ext>
            </a:extLst>
          </p:cNvPr>
          <p:cNvSpPr/>
          <p:nvPr/>
        </p:nvSpPr>
        <p:spPr>
          <a:xfrm>
            <a:off x="11091637" y="22326793"/>
            <a:ext cx="1421814" cy="658280"/>
          </a:xfrm>
          <a:prstGeom prst="rect">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Training</a:t>
            </a:r>
          </a:p>
          <a:p>
            <a:pPr algn="ctr"/>
            <a:r>
              <a:rPr lang="en-US" b="1" dirty="0">
                <a:solidFill>
                  <a:schemeClr val="tx1"/>
                </a:solidFill>
                <a:latin typeface="Times New Roman" panose="02020603050405020304" pitchFamily="18" charset="0"/>
                <a:cs typeface="Times New Roman" panose="02020603050405020304" pitchFamily="18" charset="0"/>
              </a:rPr>
              <a:t>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81" name="Oval 180">
            <a:extLst>
              <a:ext uri="{FF2B5EF4-FFF2-40B4-BE49-F238E27FC236}">
                <a16:creationId xmlns:a16="http://schemas.microsoft.com/office/drawing/2014/main" id="{24D0F0BE-813B-D623-19B0-282F07E418B3}"/>
              </a:ext>
            </a:extLst>
          </p:cNvPr>
          <p:cNvSpPr/>
          <p:nvPr/>
        </p:nvSpPr>
        <p:spPr>
          <a:xfrm>
            <a:off x="15308169" y="22880651"/>
            <a:ext cx="825276" cy="572295"/>
          </a:xfrm>
          <a:prstGeom prst="ellipse">
            <a:avLst/>
          </a:prstGeom>
          <a:solidFill>
            <a:srgbClr val="D6F5CC"/>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Values</a:t>
            </a:r>
          </a:p>
        </p:txBody>
      </p:sp>
      <p:cxnSp>
        <p:nvCxnSpPr>
          <p:cNvPr id="182" name="Connector: Elbow 181">
            <a:extLst>
              <a:ext uri="{FF2B5EF4-FFF2-40B4-BE49-F238E27FC236}">
                <a16:creationId xmlns:a16="http://schemas.microsoft.com/office/drawing/2014/main" id="{0FAB252E-F463-0A00-8916-3045E79FA04A}"/>
              </a:ext>
            </a:extLst>
          </p:cNvPr>
          <p:cNvCxnSpPr>
            <a:cxnSpLocks/>
          </p:cNvCxnSpPr>
          <p:nvPr/>
        </p:nvCxnSpPr>
        <p:spPr>
          <a:xfrm flipV="1">
            <a:off x="10252072" y="22655933"/>
            <a:ext cx="827990" cy="434687"/>
          </a:xfrm>
          <a:prstGeom prst="bentConnector3">
            <a:avLst>
              <a:gd name="adj1" fmla="val 50000"/>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Connector: Elbow 182">
            <a:extLst>
              <a:ext uri="{FF2B5EF4-FFF2-40B4-BE49-F238E27FC236}">
                <a16:creationId xmlns:a16="http://schemas.microsoft.com/office/drawing/2014/main" id="{B6309B02-785C-3D8E-8811-FB006C43C9EA}"/>
              </a:ext>
            </a:extLst>
          </p:cNvPr>
          <p:cNvCxnSpPr>
            <a:cxnSpLocks/>
          </p:cNvCxnSpPr>
          <p:nvPr/>
        </p:nvCxnSpPr>
        <p:spPr>
          <a:xfrm>
            <a:off x="10252072" y="23478646"/>
            <a:ext cx="819675" cy="397144"/>
          </a:xfrm>
          <a:prstGeom prst="bentConnector3">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Connector: Elbow 183">
            <a:extLst>
              <a:ext uri="{FF2B5EF4-FFF2-40B4-BE49-F238E27FC236}">
                <a16:creationId xmlns:a16="http://schemas.microsoft.com/office/drawing/2014/main" id="{0FD8A79F-7D0F-B295-0021-79AD9739E0B3}"/>
              </a:ext>
            </a:extLst>
          </p:cNvPr>
          <p:cNvCxnSpPr>
            <a:cxnSpLocks/>
            <a:stCxn id="180" idx="3"/>
          </p:cNvCxnSpPr>
          <p:nvPr/>
        </p:nvCxnSpPr>
        <p:spPr>
          <a:xfrm>
            <a:off x="12513451" y="22655933"/>
            <a:ext cx="749191" cy="410990"/>
          </a:xfrm>
          <a:prstGeom prst="bent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Connector: Elbow 184">
            <a:extLst>
              <a:ext uri="{FF2B5EF4-FFF2-40B4-BE49-F238E27FC236}">
                <a16:creationId xmlns:a16="http://schemas.microsoft.com/office/drawing/2014/main" id="{9222B127-9B9D-E613-FB07-3426B7221BFB}"/>
              </a:ext>
            </a:extLst>
          </p:cNvPr>
          <p:cNvCxnSpPr>
            <a:cxnSpLocks/>
            <a:stCxn id="179" idx="3"/>
          </p:cNvCxnSpPr>
          <p:nvPr/>
        </p:nvCxnSpPr>
        <p:spPr>
          <a:xfrm flipV="1">
            <a:off x="12467151" y="23295523"/>
            <a:ext cx="733951" cy="354129"/>
          </a:xfrm>
          <a:prstGeom prst="bent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61165A06-E34F-D66D-A35E-57F3E35DDA45}"/>
              </a:ext>
            </a:extLst>
          </p:cNvPr>
          <p:cNvCxnSpPr>
            <a:cxnSpLocks/>
            <a:stCxn id="178" idx="3"/>
            <a:endCxn id="181" idx="2"/>
          </p:cNvCxnSpPr>
          <p:nvPr/>
        </p:nvCxnSpPr>
        <p:spPr>
          <a:xfrm>
            <a:off x="14928385" y="23165693"/>
            <a:ext cx="379784" cy="11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C9ECDA5F-2CD4-CAF7-809F-5AC024BF3DC2}"/>
              </a:ext>
            </a:extLst>
          </p:cNvPr>
          <p:cNvSpPr txBox="1"/>
          <p:nvPr/>
        </p:nvSpPr>
        <p:spPr>
          <a:xfrm>
            <a:off x="13480247" y="22383868"/>
            <a:ext cx="124968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Learning</a:t>
            </a:r>
            <a:endParaRPr lang="en-IN" b="1" dirty="0">
              <a:latin typeface="Times New Roman" panose="02020603050405020304" pitchFamily="18" charset="0"/>
              <a:cs typeface="Times New Roman" panose="02020603050405020304" pitchFamily="18" charset="0"/>
            </a:endParaRPr>
          </a:p>
        </p:txBody>
      </p:sp>
      <p:sp>
        <p:nvSpPr>
          <p:cNvPr id="188" name="TextBox 187">
            <a:extLst>
              <a:ext uri="{FF2B5EF4-FFF2-40B4-BE49-F238E27FC236}">
                <a16:creationId xmlns:a16="http://schemas.microsoft.com/office/drawing/2014/main" id="{F2505CBF-E3E5-58EA-BA33-966EC5D7AA0D}"/>
              </a:ext>
            </a:extLst>
          </p:cNvPr>
          <p:cNvSpPr txBox="1"/>
          <p:nvPr/>
        </p:nvSpPr>
        <p:spPr>
          <a:xfrm>
            <a:off x="13471177" y="23630803"/>
            <a:ext cx="13716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Testing</a:t>
            </a:r>
            <a:endParaRPr lang="en-IN" b="1" dirty="0">
              <a:latin typeface="Times New Roman" panose="02020603050405020304" pitchFamily="18" charset="0"/>
              <a:cs typeface="Times New Roman" panose="02020603050405020304" pitchFamily="18" charset="0"/>
            </a:endParaRPr>
          </a:p>
        </p:txBody>
      </p:sp>
      <p:sp>
        <p:nvSpPr>
          <p:cNvPr id="189" name="TextBox 188">
            <a:extLst>
              <a:ext uri="{FF2B5EF4-FFF2-40B4-BE49-F238E27FC236}">
                <a16:creationId xmlns:a16="http://schemas.microsoft.com/office/drawing/2014/main" id="{AACA3FE4-B9B1-742C-E237-599E24681E3F}"/>
              </a:ext>
            </a:extLst>
          </p:cNvPr>
          <p:cNvSpPr txBox="1"/>
          <p:nvPr/>
        </p:nvSpPr>
        <p:spPr>
          <a:xfrm flipH="1">
            <a:off x="8689400" y="24164297"/>
            <a:ext cx="7663814"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Fig:1 Flowchart Of SVM Algorithm</a:t>
            </a:r>
            <a:endParaRPr lang="en-IN" b="1" dirty="0">
              <a:latin typeface="Times New Roman" panose="02020603050405020304" pitchFamily="18" charset="0"/>
              <a:cs typeface="Times New Roman" panose="02020603050405020304" pitchFamily="18" charset="0"/>
            </a:endParaRPr>
          </a:p>
        </p:txBody>
      </p:sp>
      <p:sp>
        <p:nvSpPr>
          <p:cNvPr id="190" name="TextBox 189">
            <a:extLst>
              <a:ext uri="{FF2B5EF4-FFF2-40B4-BE49-F238E27FC236}">
                <a16:creationId xmlns:a16="http://schemas.microsoft.com/office/drawing/2014/main" id="{5D7E70C1-6271-6940-5B1E-B35BE9DE67D9}"/>
              </a:ext>
            </a:extLst>
          </p:cNvPr>
          <p:cNvSpPr txBox="1"/>
          <p:nvPr/>
        </p:nvSpPr>
        <p:spPr>
          <a:xfrm>
            <a:off x="171741" y="26749511"/>
            <a:ext cx="3512086"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Fig:2 Comparison on the accuracy of XGB with SVM.</a:t>
            </a:r>
            <a:endParaRPr lang="en-IN" b="1" dirty="0">
              <a:latin typeface="Times New Roman" panose="02020603050405020304" pitchFamily="18" charset="0"/>
              <a:cs typeface="Times New Roman" panose="02020603050405020304" pitchFamily="18" charset="0"/>
            </a:endParaRPr>
          </a:p>
        </p:txBody>
      </p:sp>
      <p:sp>
        <p:nvSpPr>
          <p:cNvPr id="191" name="TextBox 190">
            <a:extLst>
              <a:ext uri="{FF2B5EF4-FFF2-40B4-BE49-F238E27FC236}">
                <a16:creationId xmlns:a16="http://schemas.microsoft.com/office/drawing/2014/main" id="{3A2631D3-28E2-24C0-971E-8A3C47247CD1}"/>
              </a:ext>
            </a:extLst>
          </p:cNvPr>
          <p:cNvSpPr txBox="1"/>
          <p:nvPr/>
        </p:nvSpPr>
        <p:spPr>
          <a:xfrm>
            <a:off x="11692795" y="24851073"/>
            <a:ext cx="4433280" cy="369332"/>
          </a:xfrm>
          <a:prstGeom prst="rect">
            <a:avLst/>
          </a:prstGeom>
          <a:noFill/>
        </p:spPr>
        <p:txBody>
          <a:bodyPr wrap="square" rtlCol="0">
            <a:spAutoFit/>
          </a:bodyPr>
          <a:lstStyle/>
          <a:p>
            <a:pPr algn="ctr"/>
            <a:r>
              <a:rPr lang="en-US" dirty="0"/>
              <a:t> </a:t>
            </a:r>
            <a:r>
              <a:rPr lang="en-US" b="1" dirty="0">
                <a:latin typeface="Times New Roman" panose="02020603050405020304" pitchFamily="18" charset="0"/>
                <a:cs typeface="Times New Roman" panose="02020603050405020304" pitchFamily="18" charset="0"/>
              </a:rPr>
              <a:t>Table.1. Comparison of  The SVM vs ANN</a:t>
            </a:r>
          </a:p>
        </p:txBody>
      </p:sp>
      <p:sp>
        <p:nvSpPr>
          <p:cNvPr id="192" name="TextBox 191">
            <a:extLst>
              <a:ext uri="{FF2B5EF4-FFF2-40B4-BE49-F238E27FC236}">
                <a16:creationId xmlns:a16="http://schemas.microsoft.com/office/drawing/2014/main" id="{DFE8457D-FD32-1564-6894-3613A5CC0889}"/>
              </a:ext>
            </a:extLst>
          </p:cNvPr>
          <p:cNvSpPr txBox="1"/>
          <p:nvPr/>
        </p:nvSpPr>
        <p:spPr>
          <a:xfrm>
            <a:off x="8461201" y="26767804"/>
            <a:ext cx="3512086"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Fig:2 Comparison on the accuracy of SVM with ANN.</a:t>
            </a:r>
            <a:endParaRPr lang="en-IN" b="1" dirty="0">
              <a:latin typeface="Times New Roman" panose="02020603050405020304" pitchFamily="18" charset="0"/>
              <a:cs typeface="Times New Roman" panose="02020603050405020304" pitchFamily="18" charset="0"/>
            </a:endParaRPr>
          </a:p>
        </p:txBody>
      </p:sp>
      <p:sp>
        <p:nvSpPr>
          <p:cNvPr id="193" name="TextBox 192">
            <a:extLst>
              <a:ext uri="{FF2B5EF4-FFF2-40B4-BE49-F238E27FC236}">
                <a16:creationId xmlns:a16="http://schemas.microsoft.com/office/drawing/2014/main" id="{B0F66035-DC41-8460-D9D1-40CB51396FD2}"/>
              </a:ext>
            </a:extLst>
          </p:cNvPr>
          <p:cNvSpPr txBox="1"/>
          <p:nvPr/>
        </p:nvSpPr>
        <p:spPr>
          <a:xfrm>
            <a:off x="3555685" y="24728066"/>
            <a:ext cx="4433280" cy="646331"/>
          </a:xfrm>
          <a:prstGeom prst="rect">
            <a:avLst/>
          </a:prstGeom>
          <a:noFill/>
        </p:spPr>
        <p:txBody>
          <a:bodyPr wrap="square" rtlCol="0">
            <a:spAutoFit/>
          </a:bodyPr>
          <a:lstStyle/>
          <a:p>
            <a:pPr algn="ctr"/>
            <a:r>
              <a:rPr lang="en-US" dirty="0"/>
              <a:t> </a:t>
            </a:r>
            <a:r>
              <a:rPr lang="en-US" b="1" dirty="0">
                <a:latin typeface="Times New Roman" panose="02020603050405020304" pitchFamily="18" charset="0"/>
                <a:cs typeface="Times New Roman" panose="02020603050405020304" pitchFamily="18" charset="0"/>
              </a:rPr>
              <a:t>Table.1. Comparison of  The XG -Boost vs Support Vector Machine.</a:t>
            </a:r>
          </a:p>
        </p:txBody>
      </p:sp>
      <p:pic>
        <p:nvPicPr>
          <p:cNvPr id="118" name="Picture 117">
            <a:extLst>
              <a:ext uri="{FF2B5EF4-FFF2-40B4-BE49-F238E27FC236}">
                <a16:creationId xmlns:a16="http://schemas.microsoft.com/office/drawing/2014/main" id="{EEECFA1C-D2C0-3A94-9669-F2862D5DC4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1617" y="9991326"/>
            <a:ext cx="3043101" cy="1755742"/>
          </a:xfrm>
          <a:prstGeom prst="rect">
            <a:avLst/>
          </a:prstGeom>
          <a:noFill/>
          <a:ln>
            <a:noFill/>
          </a:ln>
        </p:spPr>
      </p:pic>
      <p:pic>
        <p:nvPicPr>
          <p:cNvPr id="120" name="Picture 119">
            <a:extLst>
              <a:ext uri="{FF2B5EF4-FFF2-40B4-BE49-F238E27FC236}">
                <a16:creationId xmlns:a16="http://schemas.microsoft.com/office/drawing/2014/main" id="{5AA2C044-70B1-3269-36C8-EB247F7E095E}"/>
              </a:ext>
            </a:extLst>
          </p:cNvPr>
          <p:cNvPicPr>
            <a:picLocks noChangeAspect="1"/>
          </p:cNvPicPr>
          <p:nvPr/>
        </p:nvPicPr>
        <p:blipFill rotWithShape="1">
          <a:blip r:embed="rId4">
            <a:extLst>
              <a:ext uri="{28A0092B-C50C-407E-A947-70E740481C1C}">
                <a14:useLocalDpi xmlns:a14="http://schemas.microsoft.com/office/drawing/2010/main" val="0"/>
              </a:ext>
            </a:extLst>
          </a:blip>
          <a:srcRect l="1242" t="2344" r="1"/>
          <a:stretch>
            <a:fillRect/>
          </a:stretch>
        </p:blipFill>
        <p:spPr bwMode="auto">
          <a:xfrm>
            <a:off x="8678399" y="10031861"/>
            <a:ext cx="3064773" cy="1643718"/>
          </a:xfrm>
          <a:prstGeom prst="rect">
            <a:avLst/>
          </a:prstGeom>
          <a:noFill/>
          <a:ln>
            <a:noFill/>
          </a:ln>
          <a:extLst>
            <a:ext uri="{53640926-AAD7-44D8-BBD7-CCE9431645EC}">
              <a14:shadowObscured xmlns:a14="http://schemas.microsoft.com/office/drawing/2010/main"/>
            </a:ext>
          </a:extLst>
        </p:spPr>
      </p:pic>
      <p:pic>
        <p:nvPicPr>
          <p:cNvPr id="121" name="Picture 120">
            <a:extLst>
              <a:ext uri="{FF2B5EF4-FFF2-40B4-BE49-F238E27FC236}">
                <a16:creationId xmlns:a16="http://schemas.microsoft.com/office/drawing/2014/main" id="{73C185E8-C3AA-E1E6-EBDB-EAC23D2A06D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4075" y="25177511"/>
            <a:ext cx="3036944" cy="1662206"/>
          </a:xfrm>
          <a:prstGeom prst="rect">
            <a:avLst/>
          </a:prstGeom>
          <a:noFill/>
          <a:ln>
            <a:noFill/>
          </a:ln>
        </p:spPr>
      </p:pic>
      <p:pic>
        <p:nvPicPr>
          <p:cNvPr id="129" name="Picture 128">
            <a:extLst>
              <a:ext uri="{FF2B5EF4-FFF2-40B4-BE49-F238E27FC236}">
                <a16:creationId xmlns:a16="http://schemas.microsoft.com/office/drawing/2014/main" id="{70E3E52D-7250-21E7-66D8-83E14618B09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659625" y="25244092"/>
            <a:ext cx="2974445" cy="1554608"/>
          </a:xfrm>
          <a:prstGeom prst="rect">
            <a:avLst/>
          </a:prstGeom>
          <a:noFill/>
          <a:ln>
            <a:noFill/>
          </a:ln>
        </p:spPr>
      </p:pic>
    </p:spTree>
    <p:extLst>
      <p:ext uri="{BB962C8B-B14F-4D97-AF65-F5344CB8AC3E}">
        <p14:creationId xmlns:p14="http://schemas.microsoft.com/office/powerpoint/2010/main" val="22498106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1512</TotalTime>
  <Words>1314</Words>
  <Application>Microsoft Office PowerPoint</Application>
  <PresentationFormat>Custom</PresentationFormat>
  <Paragraphs>198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Mourya Pendekal</cp:lastModifiedBy>
  <cp:revision>42</cp:revision>
  <dcterms:created xsi:type="dcterms:W3CDTF">2023-04-19T08:35:46Z</dcterms:created>
  <dcterms:modified xsi:type="dcterms:W3CDTF">2025-06-06T08:56:56Z</dcterms:modified>
</cp:coreProperties>
</file>